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2c2596c9e9d46a6" /><Relationship Type="http://schemas.openxmlformats.org/officeDocument/2006/relationships/extended-properties" Target="/docProps/app.xml" Id="R867cce373b604801" /><Relationship Type="http://schemas.openxmlformats.org/officeDocument/2006/relationships/officeDocument" Target="/ppt/presentation.xml" Id="R3a4c539a9b0d4a1f" /></Relationships>
</file>

<file path=ppt/presentation.xml><?xml version="1.0" encoding="utf-8"?>
<p:presentation xmlns:p="http://schemas.openxmlformats.org/presentationml/2006/main">
  <p:sldMasterIdLst>
    <p:sldMasterId xmlns:r="http://schemas.openxmlformats.org/officeDocument/2006/relationships" id="2147483648" r:id="Rd1c1e3d4699242d1"/>
  </p:sldMasterIdLst>
  <p:notesMasterIdLst>
    <p:notesMasterId xmlns:r="http://schemas.openxmlformats.org/officeDocument/2006/relationships" r:id="R634f2cebdf84463f"/>
  </p:notesMasterIdLst>
  <p:sldIdLst>
    <p:sldId xmlns:r="http://schemas.openxmlformats.org/officeDocument/2006/relationships" id="256" r:id="R5064c17d3a014045"/>
    <p:sldId xmlns:r="http://schemas.openxmlformats.org/officeDocument/2006/relationships" id="257" r:id="R667eb3bdb3bb4cb4"/>
    <p:sldId xmlns:r="http://schemas.openxmlformats.org/officeDocument/2006/relationships" id="258" r:id="R5bfe105901e74565"/>
    <p:sldId xmlns:r="http://schemas.openxmlformats.org/officeDocument/2006/relationships" id="259" r:id="R7f39568f518848ee"/>
    <p:sldId xmlns:r="http://schemas.openxmlformats.org/officeDocument/2006/relationships" id="260" r:id="Rc440ebd4a5e34f78"/>
    <p:sldId xmlns:r="http://schemas.openxmlformats.org/officeDocument/2006/relationships" id="261" r:id="Rbec2593c973448c0"/>
    <p:sldId xmlns:r="http://schemas.openxmlformats.org/officeDocument/2006/relationships" id="262" r:id="R4390d3c61b8d413a"/>
    <p:sldId xmlns:r="http://schemas.openxmlformats.org/officeDocument/2006/relationships" id="263" r:id="R36f564a1244d416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b42a491beaa468b" /><Relationship Type="http://schemas.openxmlformats.org/officeDocument/2006/relationships/slideMaster" Target="/ppt/slideMasters/slideMaster1.xml" Id="Rd1c1e3d4699242d1" /><Relationship Type="http://schemas.openxmlformats.org/officeDocument/2006/relationships/notesMaster" Target="/ppt/notesMasters/notesMaster1.xml" Id="R634f2cebdf84463f" /><Relationship Type="http://schemas.openxmlformats.org/officeDocument/2006/relationships/presProps" Target="/ppt/presProps.xml" Id="R35874e0cdbf34391" /><Relationship Type="http://schemas.openxmlformats.org/officeDocument/2006/relationships/tableStyles" Target="/ppt/tableStyles.xml" Id="R9d3b2b0afe5b4ee5" /><Relationship Type="http://schemas.openxmlformats.org/officeDocument/2006/relationships/slide" Target="/ppt/slides/slide1.xml" Id="R5064c17d3a014045" /><Relationship Type="http://schemas.openxmlformats.org/officeDocument/2006/relationships/slide" Target="/ppt/slides/slide2.xml" Id="R667eb3bdb3bb4cb4" /><Relationship Type="http://schemas.openxmlformats.org/officeDocument/2006/relationships/slide" Target="/ppt/slides/slide3.xml" Id="R5bfe105901e74565" /><Relationship Type="http://schemas.openxmlformats.org/officeDocument/2006/relationships/slide" Target="/ppt/slides/slide4.xml" Id="R7f39568f518848ee" /><Relationship Type="http://schemas.openxmlformats.org/officeDocument/2006/relationships/slide" Target="/ppt/slides/slide5.xml" Id="Rc440ebd4a5e34f78" /><Relationship Type="http://schemas.openxmlformats.org/officeDocument/2006/relationships/slide" Target="/ppt/slides/slide6.xml" Id="Rbec2593c973448c0" /><Relationship Type="http://schemas.openxmlformats.org/officeDocument/2006/relationships/slide" Target="/ppt/slides/slide7.xml" Id="R4390d3c61b8d413a" /><Relationship Type="http://schemas.openxmlformats.org/officeDocument/2006/relationships/slide" Target="/ppt/slides/slide8.xml" Id="R36f564a1244d416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03027bd21d7434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eee39a901e04820" /><Relationship Type="http://schemas.openxmlformats.org/officeDocument/2006/relationships/notesMaster" Target="/ppt/notesMasters/notesMaster1.xml" Id="Rc9cbe7a19e214941" /></Relationships>
</file>

<file path=ppt/notesSlides/_rels/notesSlide2.xml.rels>&#65279;<?xml version="1.0" encoding="utf-8"?><Relationships xmlns="http://schemas.openxmlformats.org/package/2006/relationships"><Relationship Type="http://schemas.openxmlformats.org/officeDocument/2006/relationships/slide" Target="/ppt/slides/slide2.xml" Id="Rc7a2bf221973485b" /><Relationship Type="http://schemas.openxmlformats.org/officeDocument/2006/relationships/notesMaster" Target="/ppt/notesMasters/notesMaster1.xml" Id="Rf8ce71b89f4f4ca4" /></Relationships>
</file>

<file path=ppt/notesSlides/_rels/notesSlide3.xml.rels>&#65279;<?xml version="1.0" encoding="utf-8"?><Relationships xmlns="http://schemas.openxmlformats.org/package/2006/relationships"><Relationship Type="http://schemas.openxmlformats.org/officeDocument/2006/relationships/slide" Target="/ppt/slides/slide3.xml" Id="Rcbeb2ec6d39a4db7" /><Relationship Type="http://schemas.openxmlformats.org/officeDocument/2006/relationships/notesMaster" Target="/ppt/notesMasters/notesMaster1.xml" Id="Rf972d556f0554bae" /></Relationships>
</file>

<file path=ppt/notesSlides/_rels/notesSlide4.xml.rels>&#65279;<?xml version="1.0" encoding="utf-8"?><Relationships xmlns="http://schemas.openxmlformats.org/package/2006/relationships"><Relationship Type="http://schemas.openxmlformats.org/officeDocument/2006/relationships/slide" Target="/ppt/slides/slide4.xml" Id="R484da560fa7e4e1a" /><Relationship Type="http://schemas.openxmlformats.org/officeDocument/2006/relationships/notesMaster" Target="/ppt/notesMasters/notesMaster1.xml" Id="R5183d35d8ac74e03" /></Relationships>
</file>

<file path=ppt/notesSlides/_rels/notesSlide5.xml.rels>&#65279;<?xml version="1.0" encoding="utf-8"?><Relationships xmlns="http://schemas.openxmlformats.org/package/2006/relationships"><Relationship Type="http://schemas.openxmlformats.org/officeDocument/2006/relationships/slide" Target="/ppt/slides/slide5.xml" Id="Rfc63952635ef417b" /><Relationship Type="http://schemas.openxmlformats.org/officeDocument/2006/relationships/notesMaster" Target="/ppt/notesMasters/notesMaster1.xml" Id="R69a410f7143b4232" /></Relationships>
</file>

<file path=ppt/notesSlides/_rels/notesSlide6.xml.rels>&#65279;<?xml version="1.0" encoding="utf-8"?><Relationships xmlns="http://schemas.openxmlformats.org/package/2006/relationships"><Relationship Type="http://schemas.openxmlformats.org/officeDocument/2006/relationships/slide" Target="/ppt/slides/slide6.xml" Id="R49beda01cfe94f3f" /><Relationship Type="http://schemas.openxmlformats.org/officeDocument/2006/relationships/notesMaster" Target="/ppt/notesMasters/notesMaster1.xml" Id="R30d72017c0224321" /></Relationships>
</file>

<file path=ppt/notesSlides/_rels/notesSlide7.xml.rels>&#65279;<?xml version="1.0" encoding="utf-8"?><Relationships xmlns="http://schemas.openxmlformats.org/package/2006/relationships"><Relationship Type="http://schemas.openxmlformats.org/officeDocument/2006/relationships/slide" Target="/ppt/slides/slide7.xml" Id="R45dde6141f7f4ed8" /><Relationship Type="http://schemas.openxmlformats.org/officeDocument/2006/relationships/notesMaster" Target="/ppt/notesMasters/notesMaster1.xml" Id="R9794ff45d3264416" /></Relationships>
</file>

<file path=ppt/notesSlides/_rels/notesSlide8.xml.rels>&#65279;<?xml version="1.0" encoding="utf-8"?><Relationships xmlns="http://schemas.openxmlformats.org/package/2006/relationships"><Relationship Type="http://schemas.openxmlformats.org/officeDocument/2006/relationships/slide" Target="/ppt/slides/slide8.xml" Id="Rdb6c29c059204644" /><Relationship Type="http://schemas.openxmlformats.org/officeDocument/2006/relationships/notesMaster" Target="/ppt/notesMasters/notesMaster1.xml" Id="Rbd4b5cd669634d2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0:00–0:25 (25 seconds)</a:t>
            </a:r>
          </a:p>
          <a:p xmlns:a="http://schemas.openxmlformats.org/drawingml/2006/main">
            <a:r>
              <a:t/>
            </a:r>
          </a:p>
          <a:p xmlns:a="http://schemas.openxmlformats.org/drawingml/2006/main">
            <a:r>
              <a:t>AI can give us a polished answer in seconds. Checking whether that answer deserves our confidence still takes work. Second Opinion by Jhaad Labs gives that review a dedicated workspace. You bring the original sources and the AI answer. We show which claims hold up, where they conflict, and what still needs evidence.</a:t>
            </a:r>
          </a:p>
          <a:p xmlns:a="http://schemas.openxmlformats.org/drawingml/2006/main">
            <a:r>
              <a:t/>
            </a:r>
          </a:p>
          <a:p xmlns:a="http://schemas.openxmlformats.org/drawingml/2006/main">
            <a:r>
              <a:t>Sources and context: Current Second Opinion application, README and screenshots at https://github.com/jhaadhelp/Jhaadpay_college_round/tree/05f0ff8763e54690dfbc2bd38d795812add56f6d. Validation: https://github.com/jhaadhelp/Jhaadpay_college_round/actions/runs/38069079992. Northstar is an authored demonstration. Timings are rehearsal targets. Model evaluation: 19/20 authored development cases, not an independent benchmark.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0:25–0:55 (30 seconds)</a:t>
            </a:r>
          </a:p>
          <a:p xmlns:a="http://schemas.openxmlformats.org/drawingml/2006/main">
            <a:r>
              <a:t/>
            </a:r>
          </a:p>
          <a:p xmlns:a="http://schemas.openxmlformats.org/drawingml/2006/main">
            <a:r>
              <a:t>Consider an answer that says users increased from one hundred to one hundred and twenty, a thirty percent increase. It sounds precise, but the calculation is twenty percent. A second sentence might claim the product will lead the market next year, even though the source says nothing about that. Those are different problems. Second Opinion separates a contradiction from missing evidence, so reviewers know what actually needs attention.</a:t>
            </a:r>
          </a:p>
          <a:p xmlns:a="http://schemas.openxmlformats.org/drawingml/2006/main">
            <a:r>
              <a:t/>
            </a:r>
          </a:p>
          <a:p xmlns:a="http://schemas.openxmlformats.org/drawingml/2006/main">
            <a:r>
              <a:t>Sources and context: Current Second Opinion application, README and screenshots at https://github.com/jhaadhelp/Jhaadpay_college_round/tree/05f0ff8763e54690dfbc2bd38d795812add56f6d. Validation: https://github.com/jhaadhelp/Jhaadpay_college_round/actions/runs/38069079992. Northstar is an authored demonstration. Timings are rehearsal targets. Model evaluation: 19/20 authored development cases, not an independent benchmark.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0:55–1:30 (35 seconds)</a:t>
            </a:r>
          </a:p>
          <a:p xmlns:a="http://schemas.openxmlformats.org/drawingml/2006/main">
            <a:r>
              <a:t/>
            </a:r>
          </a:p>
          <a:p xmlns:a="http://schemas.openxmlformats.org/drawingml/2006/main">
            <a:r>
              <a:t>The workflow starts with your material: PDF, text, Markdown, CSV, or pasted source text. Add the AI answer, then review the inputs before running the audit. Source collections let you reuse references, and document search helps you find the exact wording. The overview brings recent work back within reach. We also designed the interface for everyday use, with clear buttons, mobile layouts, subtle transitions, and keyboard shortcuts. Each stage has one clear next action.</a:t>
            </a:r>
          </a:p>
          <a:p xmlns:a="http://schemas.openxmlformats.org/drawingml/2006/main">
            <a:r>
              <a:t/>
            </a:r>
          </a:p>
          <a:p xmlns:a="http://schemas.openxmlformats.org/drawingml/2006/main">
            <a:r>
              <a:t>Sources and context: Current Second Opinion application, README and screenshots at https://github.com/jhaadhelp/Jhaadpay_college_round/tree/05f0ff8763e54690dfbc2bd38d795812add56f6d. Validation: https://github.com/jhaadhelp/Jhaadpay_college_round/actions/runs/38069079992. Northstar is an authored demonstration. Timings are rehearsal targets. Model evaluation: 19/20 authored development cases, not an independent benchmark.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1:30–2:15 (45 seconds)</a:t>
            </a:r>
          </a:p>
          <a:p xmlns:a="http://schemas.openxmlformats.org/drawingml/2006/main">
            <a:r>
              <a:t/>
            </a:r>
          </a:p>
          <a:p xmlns:a="http://schemas.openxmlformats.org/drawingml/2006/main">
            <a:r>
              <a:t>The checker splits the answer into claims and compares them with relevant source passages using a local inference model. Each claim receives one of four findings: supported, contradicted, insufficient evidence, or ambiguous. You can open the quoted passage and see its page or line reference. Numerical checks catch explicit percentage-change mistakes. The app also checks related statements for internal contradictions, suggests reasoning links, and flags potentially consequential instructions for review. The coverage view makes the whole answer interactive. Click a highlighted sentence and follow its evidence. These findings describe agreement with the supplied sources, so source quality still matters.</a:t>
            </a:r>
          </a:p>
          <a:p xmlns:a="http://schemas.openxmlformats.org/drawingml/2006/main">
            <a:r>
              <a:t/>
            </a:r>
          </a:p>
          <a:p xmlns:a="http://schemas.openxmlformats.org/drawingml/2006/main">
            <a:r>
              <a:t>Sources and context: Current Second Opinion application, README and screenshots at https://github.com/jhaadhelp/Jhaadpay_college_round/tree/05f0ff8763e54690dfbc2bd38d795812add56f6d. Validation: https://github.com/jhaadhelp/Jhaadpay_college_round/actions/runs/38069079992. Northstar is an authored demonstration. Timings are rehearsal targets. Model evaluation: 19/20 authored development cases, not an independent benchmark.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2:15–3:00 (45 seconds)</a:t>
            </a:r>
          </a:p>
          <a:p xmlns:a="http://schemas.openxmlformats.org/drawingml/2006/main">
            <a:r>
              <a:t/>
            </a:r>
          </a:p>
          <a:p xmlns:a="http://schemas.openxmlformats.org/drawingml/2006/main">
            <a:r>
              <a:t>The newest standout feature is Review Insights. It asks a question reviewers usually have to answer themselves: what would help resolve this claim? If the answer claims better long-term retention, the app prompts you to look for follow-up measurements. If the sources disagree, it points you toward their dates, populations, and methods. Wording review also highlights certainty cues such as proved or will when the claim lacks a supported verdict. These are transparent language rules, separate from the model’s findings. Together, they give the reviewer a concrete next step instead of leaving them with a warning and no direction.</a:t>
            </a:r>
          </a:p>
          <a:p xmlns:a="http://schemas.openxmlformats.org/drawingml/2006/main">
            <a:r>
              <a:t/>
            </a:r>
          </a:p>
          <a:p xmlns:a="http://schemas.openxmlformats.org/drawingml/2006/main">
            <a:r>
              <a:t>Sources and context: Current Second Opinion application, README and screenshots at https://github.com/jhaadhelp/Jhaadpay_college_round/tree/05f0ff8763e54690dfbc2bd38d795812add56f6d. Validation: https://github.com/jhaadhelp/Jhaadpay_college_round/actions/runs/38069079992. Northstar is an authored demonstration. Timings are rehearsal targets. Model evaluation: 19/20 authored development cases, not an independent benchmark.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3:00–3:45 (45 seconds)</a:t>
            </a:r>
          </a:p>
          <a:p xmlns:a="http://schemas.openxmlformats.org/drawingml/2006/main">
            <a:r>
              <a:t/>
            </a:r>
          </a:p>
          <a:p xmlns:a="http://schemas.openxmlformats.org/drawingml/2006/main">
            <a:r>
              <a:t>The work continues after the first report. Reviewers can add notes and a manual verdict while preserving the original AI finding. They can inspect suggested corrections, edit the answer, and run a linked audit. Side-by-side comparison shows changed verdicts, added or removed claims, and whether the source text changed. Searchable audit history keeps the earlier versions available. When the review is ready to share, export Markdown, the complete JSON record, or a printable PDF report. Progress feedback and cancellation keep the workflow manageable. The point is to make review something you can explain and return to, rather than a one-time result.</a:t>
            </a:r>
          </a:p>
          <a:p xmlns:a="http://schemas.openxmlformats.org/drawingml/2006/main">
            <a:r>
              <a:t/>
            </a:r>
          </a:p>
          <a:p xmlns:a="http://schemas.openxmlformats.org/drawingml/2006/main">
            <a:r>
              <a:t>Sources and context: Current Second Opinion application, README and screenshots at https://github.com/jhaadhelp/Jhaadpay_college_round/tree/05f0ff8763e54690dfbc2bd38d795812add56f6d. Validation: https://github.com/jhaadhelp/Jhaadpay_college_round/actions/runs/38069079992. Northstar is an authored demonstration. Timings are rehearsal targets. Model evaluation: 19/20 authored development cases, not an independent benchmark.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3:45–4:25 (40 seconds)</a:t>
            </a:r>
          </a:p>
          <a:p xmlns:a="http://schemas.openxmlformats.org/drawingml/2006/main">
            <a:r>
              <a:t/>
            </a:r>
          </a:p>
          <a:p xmlns:a="http://schemas.openxmlformats.org/drawingml/2006/main">
            <a:r>
              <a:t>Second Opinion runs the model on the workspace server without a paid AI API key. Document text is not sent to an AI provider. The first model download needs internet access, and subsequent cached starts work offline. Saved audits and sources stay in the workspace, with optional password protection and a private Codespaces setup. The current build passes thirty-five unit and API tests plus three browser workflows. On twenty authored development cases, nineteen expected labels matched. That is a small development check, not a general accuracy guarantee. This remains an English-focused prototype, with human judgment built into the process.</a:t>
            </a:r>
          </a:p>
          <a:p xmlns:a="http://schemas.openxmlformats.org/drawingml/2006/main">
            <a:r>
              <a:t/>
            </a:r>
          </a:p>
          <a:p xmlns:a="http://schemas.openxmlformats.org/drawingml/2006/main">
            <a:r>
              <a:t>Sources and context: Current Second Opinion application, README and screenshots at https://github.com/jhaadhelp/Jhaadpay_college_round/tree/05f0ff8763e54690dfbc2bd38d795812add56f6d. Validation: https://github.com/jhaadhelp/Jhaadpay_college_round/actions/runs/38069079992. Northstar is an authored demonstration. Timings are rehearsal targets. Model evaluation: 19/20 authored development cases, not an independent benchmark.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4:25–5:00 (35 seconds)</a:t>
            </a:r>
          </a:p>
          <a:p xmlns:a="http://schemas.openxmlformats.org/drawingml/2006/main">
            <a:r>
              <a:t/>
            </a:r>
          </a:p>
          <a:p xmlns:a="http://schemas.openxmlformats.org/drawingml/2006/main">
            <a:r>
              <a:t>For a student checking a research summary, an analyst reviewing a report, or a team preparing a recommendation, the value is straightforward: an easier path from a claim to its evidence. The product combines a real local checker with an organised review workflow, and it makes uncertainty visible. The best way to understand it is to bring one answer you already care about and the sources behind it. Second Opinion by Jhaad Labs helps you see what holds up, what needs changing, and what to check next.</a:t>
            </a:r>
          </a:p>
          <a:p xmlns:a="http://schemas.openxmlformats.org/drawingml/2006/main">
            <a:r>
              <a:t/>
            </a:r>
          </a:p>
          <a:p xmlns:a="http://schemas.openxmlformats.org/drawingml/2006/main">
            <a:r>
              <a:t>Sources and context: Current Second Opinion application, README and screenshots at https://github.com/jhaadhelp/Jhaadpay_college_round/tree/05f0ff8763e54690dfbc2bd38d795812add56f6d. Validation: https://github.com/jhaadhelp/Jhaadpay_college_round/actions/runs/38069079992. Northstar is an authored demonstration. Timings are rehearsal targets. Model evaluation: 19/20 authored development cases, not an independent benchmark.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d22a9f8bd634f4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c8f8bb69579491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b8bc4405dcd422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87f2c7397d5477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0853fd4b97d461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17fd8cb96b9435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773E70C-67EA-4E0B-B520-F1AB269C4B7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3468C67-9B33-4EB2-B712-9B8FCC0504C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76B27F7-8176-4D06-B0E0-6DD6FDDDAB0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CF4057C-9198-4B13-8E4E-E3B4846CD25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B8F6971-C24F-47CD-9AA6-4C7D45F3338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10CADF5-01B0-4240-9A26-6358AF082C1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FBE7791-B128-4A8A-A5A6-AB9F9780E88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2F4BCC0-AB7E-4354-92B6-1CEB73F03E2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D77749B-B347-4CE6-87D8-1DD0264EBE6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2164A2F-2EC4-49A5-A786-35E1A21E0A3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a87ad26b5644e25" /><Relationship Type="http://schemas.openxmlformats.org/officeDocument/2006/relationships/slideLayout" Target="/ppt/slideLayouts/slideLayout1.xml" Id="Rf1ce214301d84345" /><Relationship Type="http://schemas.openxmlformats.org/officeDocument/2006/relationships/slideLayout" Target="/ppt/slideLayouts/slideLayout2.xml" Id="Rf8a15a484a1d4a76" /><Relationship Type="http://schemas.openxmlformats.org/officeDocument/2006/relationships/slideLayout" Target="/ppt/slideLayouts/slideLayout3.xml" Id="R0c261bc9223f40e3" /><Relationship Type="http://schemas.openxmlformats.org/officeDocument/2006/relationships/slideLayout" Target="/ppt/slideLayouts/slideLayout4.xml" Id="R1b0ce954b06040de" /><Relationship Type="http://schemas.openxmlformats.org/officeDocument/2006/relationships/slideLayout" Target="/ppt/slideLayouts/slideLayout5.xml" Id="R4d7b5ae5e9f040f4" /><Relationship Type="http://schemas.openxmlformats.org/officeDocument/2006/relationships/slideLayout" Target="/ppt/slideLayouts/slideLayout6.xml" Id="Rd668fc55e11e4ca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1ce214301d84345"/>
    <p:sldLayoutId xmlns:r="http://schemas.openxmlformats.org/officeDocument/2006/relationships" id="2147483650" r:id="Rf8a15a484a1d4a76"/>
    <p:sldLayoutId xmlns:r="http://schemas.openxmlformats.org/officeDocument/2006/relationships" id="2147483651" r:id="R0c261bc9223f40e3"/>
    <p:sldLayoutId xmlns:r="http://schemas.openxmlformats.org/officeDocument/2006/relationships" id="2147483652" r:id="R1b0ce954b06040de"/>
    <p:sldLayoutId xmlns:r="http://schemas.openxmlformats.org/officeDocument/2006/relationships" id="2147483653" r:id="R4d7b5ae5e9f040f4"/>
    <p:sldLayoutId xmlns:r="http://schemas.openxmlformats.org/officeDocument/2006/relationships" id="2147483654" r:id="Rd668fc55e11e4ca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49be5858ec24369" /><Relationship Type="http://schemas.openxmlformats.org/officeDocument/2006/relationships/notesSlide" Target="/ppt/notesSlides/notesSlide1.xml" Id="R7ebf0872f1c34eb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dac83063a3d43e4" /><Relationship Type="http://schemas.openxmlformats.org/officeDocument/2006/relationships/notesSlide" Target="/ppt/notesSlides/notesSlide2.xml" Id="Rc1dc502e15b64ac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e5d48c9a0aa4ab3" /><Relationship Type="http://schemas.openxmlformats.org/officeDocument/2006/relationships/image" Target="/ppt/media/image.png" Id="R8a111880c1f7441d" /><Relationship Type="http://schemas.openxmlformats.org/officeDocument/2006/relationships/notesSlide" Target="/ppt/notesSlides/notesSlide3.xml" Id="R9e656746c86b4c0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4a63e0edffa4e0c" /><Relationship Type="http://schemas.openxmlformats.org/officeDocument/2006/relationships/image" Target="/ppt/media/image2.png" Id="R6142ea69aa004745" /><Relationship Type="http://schemas.openxmlformats.org/officeDocument/2006/relationships/notesSlide" Target="/ppt/notesSlides/notesSlide4.xml" Id="R9e2ebf32587c46d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09bf944dcb04582" /><Relationship Type="http://schemas.openxmlformats.org/officeDocument/2006/relationships/image" Target="/ppt/media/image3.png" Id="R00872e88ce764c67" /><Relationship Type="http://schemas.openxmlformats.org/officeDocument/2006/relationships/notesSlide" Target="/ppt/notesSlides/notesSlide5.xml" Id="R3168beafe6ac46b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d2bef449ba74a18" /><Relationship Type="http://schemas.openxmlformats.org/officeDocument/2006/relationships/notesSlide" Target="/ppt/notesSlides/notesSlide6.xml" Id="Rc53c1cde72524c3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bbf8311ca904123" /><Relationship Type="http://schemas.openxmlformats.org/officeDocument/2006/relationships/notesSlide" Target="/ppt/notesSlides/notesSlide7.xml" Id="Ra589f15ee8e44a0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6152de560e6431e" /><Relationship Type="http://schemas.openxmlformats.org/officeDocument/2006/relationships/notesSlide" Target="/ppt/notesSlides/notesSlide8.xml" Id="Ra8ff6ea7c0294cd7" /></Relationships>
</file>

<file path=ppt/slides/slide1.xml><?xml version="1.0" encoding="utf-8"?>
<p:sld xmlns:p="http://schemas.openxmlformats.org/presentationml/2006/main">
  <p:cSld>
    <p:bg>
      <p:bgPr>
        <a:solidFill xmlns:a="http://schemas.openxmlformats.org/drawingml/2006/main">
          <a:srgbClr val="243E2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78D23CC-88AB-4584-AC90-3EB0F95F151F}"/>
              </a:ext>
            </a:extLst>
          </p:cNvPr>
          <p:cNvSpPr>
            <a:spLocks xmlns:a="http://schemas.openxmlformats.org/drawingml/2006/main" noGrp="1"/>
          </p:cNvSpPr>
          <p:nvPr/>
        </p:nvSpPr>
        <p:spPr>
          <a:xfrm xmlns:a="http://schemas.openxmlformats.org/drawingml/2006/main">
            <a:off x="609600" y="352425"/>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1">
                <a:solidFill>
                  <a:srgbClr val="D8E9C3"/>
                </a:solidFill>
                <a:latin typeface="Arial"/>
                <a:ea typeface="Arial"/>
                <a:cs typeface="Arial"/>
              </a:defRPr>
            </a:defPPr>
          </a:lstStyle>
          <a:p xmlns:a="http://schemas.openxmlformats.org/drawingml/2006/main">
            <a:pPr>
              <a:defRPr sz="1200" b="1">
                <a:solidFill>
                  <a:srgbClr val="D8E9C3"/>
                </a:solidFill>
                <a:latin typeface="Arial"/>
                <a:ea typeface="Arial"/>
                <a:cs typeface="Arial"/>
              </a:defRPr>
            </a:pPr>
            <a:r>
              <a:rPr sz="1200" b="1">
                <a:solidFill>
                  <a:srgbClr val="D8E9C3"/>
                </a:solidFill>
                <a:latin typeface="Arial"/>
                <a:ea typeface="Arial"/>
                <a:cs typeface="Arial"/>
              </a:rPr>
              <a:t>SECOND OPINION BY JHAAD LABS</a:t>
            </a:r>
          </a:p>
        </p:txBody>
      </p:sp>
      <p:sp>
        <p:nvSpPr>
          <p:cNvPr id="2" name="">
            <a:extLst xmlns:a="http://schemas.openxmlformats.org/drawingml/2006/main">
              <a:ext uri="{FF2B5EF4-FFF2-40B4-BE49-F238E27FC236}">
                <a16:creationId xmlns:a16="http://schemas.microsoft.com/office/drawing/2014/main" id="{F5ACEF64-519E-487A-85A4-C6528777D767}"/>
              </a:ext>
            </a:extLst>
          </p:cNvPr>
          <p:cNvSpPr>
            <a:spLocks xmlns:a="http://schemas.openxmlformats.org/drawingml/2006/main" noGrp="1"/>
          </p:cNvSpPr>
          <p:nvPr/>
        </p:nvSpPr>
        <p:spPr>
          <a:xfrm xmlns:a="http://schemas.openxmlformats.org/drawingml/2006/main">
            <a:off x="11049000" y="631507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200" b="0">
                <a:solidFill>
                  <a:srgbClr val="D8E9C3"/>
                </a:solidFill>
                <a:latin typeface="Arial"/>
                <a:ea typeface="Arial"/>
                <a:cs typeface="Arial"/>
              </a:defRPr>
            </a:defPPr>
          </a:lstStyle>
          <a:p xmlns:a="http://schemas.openxmlformats.org/drawingml/2006/main">
            <a:pPr algn="r">
              <a:defRPr sz="1200" b="0">
                <a:solidFill>
                  <a:srgbClr val="D8E9C3"/>
                </a:solidFill>
                <a:latin typeface="Arial"/>
                <a:ea typeface="Arial"/>
                <a:cs typeface="Arial"/>
              </a:defRPr>
            </a:pPr>
            <a:r>
              <a:rPr sz="1200" b="0">
                <a:solidFill>
                  <a:srgbClr val="D8E9C3"/>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2990DDF1-B00F-4B0E-9811-80FE0057F82D}"/>
              </a:ext>
            </a:extLst>
          </p:cNvPr>
          <p:cNvSpPr>
            <a:spLocks xmlns:a="http://schemas.openxmlformats.org/drawingml/2006/main" noGrp="1"/>
          </p:cNvSpPr>
          <p:nvPr/>
        </p:nvSpPr>
        <p:spPr>
          <a:xfrm xmlns:a="http://schemas.openxmlformats.org/drawingml/2006/main">
            <a:off x="609600" y="1619250"/>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6450" b="1">
                <a:solidFill>
                  <a:srgbClr val="FFFFFF"/>
                </a:solidFill>
                <a:latin typeface="Arial"/>
                <a:ea typeface="Arial"/>
                <a:cs typeface="Arial"/>
              </a:defRPr>
            </a:defPPr>
          </a:lstStyle>
          <a:p xmlns:a="http://schemas.openxmlformats.org/drawingml/2006/main">
            <a:pPr>
              <a:defRPr sz="6450" b="1">
                <a:solidFill>
                  <a:srgbClr val="FFFFFF"/>
                </a:solidFill>
                <a:latin typeface="Arial"/>
                <a:ea typeface="Arial"/>
                <a:cs typeface="Arial"/>
              </a:defRPr>
            </a:pPr>
            <a:r>
              <a:rPr sz="6450" b="1">
                <a:solidFill>
                  <a:srgbClr val="FFFFFF"/>
                </a:solidFill>
                <a:latin typeface="Arial"/>
                <a:ea typeface="Arial"/>
                <a:cs typeface="Arial"/>
              </a:rPr>
              <a:t>Second Opinion</a:t>
            </a:r>
          </a:p>
        </p:txBody>
      </p:sp>
      <p:sp>
        <p:nvSpPr>
          <p:cNvPr id="4" name="">
            <a:extLst xmlns:a="http://schemas.openxmlformats.org/drawingml/2006/main">
              <a:ext uri="{FF2B5EF4-FFF2-40B4-BE49-F238E27FC236}">
                <a16:creationId xmlns:a16="http://schemas.microsoft.com/office/drawing/2014/main" id="{9286E4E9-32C2-40AF-A30D-39662904AA9B}"/>
              </a:ext>
            </a:extLst>
          </p:cNvPr>
          <p:cNvSpPr>
            <a:spLocks xmlns:a="http://schemas.openxmlformats.org/drawingml/2006/main" noGrp="1"/>
          </p:cNvSpPr>
          <p:nvPr/>
        </p:nvSpPr>
        <p:spPr>
          <a:xfrm xmlns:a="http://schemas.openxmlformats.org/drawingml/2006/main">
            <a:off x="647700" y="2743200"/>
            <a:ext cx="1028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0">
                <a:solidFill>
                  <a:srgbClr val="D8E9C3"/>
                </a:solidFill>
                <a:latin typeface="Arial"/>
                <a:ea typeface="Arial"/>
                <a:cs typeface="Arial"/>
              </a:defRPr>
            </a:defPPr>
          </a:lstStyle>
          <a:p xmlns:a="http://schemas.openxmlformats.org/drawingml/2006/main">
            <a:pPr>
              <a:defRPr sz="2550" b="0">
                <a:solidFill>
                  <a:srgbClr val="D8E9C3"/>
                </a:solidFill>
                <a:latin typeface="Arial"/>
                <a:ea typeface="Arial"/>
                <a:cs typeface="Arial"/>
              </a:defRPr>
            </a:pPr>
            <a:r>
              <a:rPr sz="2550" b="0">
                <a:solidFill>
                  <a:srgbClr val="D8E9C3"/>
                </a:solidFill>
                <a:latin typeface="Arial"/>
                <a:ea typeface="Arial"/>
                <a:cs typeface="Arial"/>
              </a:rPr>
              <a:t>by Jhaad Labs</a:t>
            </a:r>
          </a:p>
        </p:txBody>
      </p:sp>
      <p:sp>
        <p:nvSpPr>
          <p:cNvPr id="5" name="">
            <a:extLst xmlns:a="http://schemas.openxmlformats.org/drawingml/2006/main">
              <a:ext uri="{FF2B5EF4-FFF2-40B4-BE49-F238E27FC236}">
                <a16:creationId xmlns:a16="http://schemas.microsoft.com/office/drawing/2014/main" id="{A18D92D0-979D-4DDB-8D26-DC2EE1C7F404}"/>
              </a:ext>
            </a:extLst>
          </p:cNvPr>
          <p:cNvSpPr>
            <a:spLocks xmlns:a="http://schemas.openxmlformats.org/drawingml/2006/main" noGrp="1"/>
          </p:cNvSpPr>
          <p:nvPr/>
        </p:nvSpPr>
        <p:spPr>
          <a:xfrm xmlns:a="http://schemas.openxmlformats.org/drawingml/2006/main">
            <a:off x="647700" y="4000500"/>
            <a:ext cx="9334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0">
                <a:solidFill>
                  <a:srgbClr val="FFFFFF"/>
                </a:solidFill>
                <a:latin typeface="Arial"/>
                <a:ea typeface="Arial"/>
                <a:cs typeface="Arial"/>
              </a:defRPr>
            </a:defPPr>
          </a:lstStyle>
          <a:p xmlns:a="http://schemas.openxmlformats.org/drawingml/2006/main">
            <a:pPr>
              <a:defRPr sz="3225" b="0">
                <a:solidFill>
                  <a:srgbClr val="FFFFFF"/>
                </a:solidFill>
                <a:latin typeface="Arial"/>
                <a:ea typeface="Arial"/>
                <a:cs typeface="Arial"/>
              </a:defRPr>
            </a:pPr>
            <a:r>
              <a:rPr sz="3225" b="0">
                <a:solidFill>
                  <a:srgbClr val="FFFFFF"/>
                </a:solidFill>
                <a:latin typeface="Arial"/>
                <a:ea typeface="Arial"/>
                <a:cs typeface="Arial"/>
              </a:rPr>
              <a:t>A clearer view of the evidence</a:t>
            </a:r>
          </a:p>
          <a:p xmlns:a="http://schemas.openxmlformats.org/drawingml/2006/main">
            <a:pPr>
              <a:defRPr sz="3225" b="0">
                <a:solidFill>
                  <a:srgbClr val="FFFFFF"/>
                </a:solidFill>
                <a:latin typeface="Arial"/>
                <a:ea typeface="Arial"/>
                <a:cs typeface="Arial"/>
              </a:defRPr>
            </a:pPr>
            <a:r>
              <a:rPr sz="3225" b="0">
                <a:solidFill>
                  <a:srgbClr val="FFFFFF"/>
                </a:solidFill>
                <a:latin typeface="Arial"/>
                <a:ea typeface="Arial"/>
                <a:cs typeface="Arial"/>
              </a:rPr>
              <a:t>behind an AI answer</a:t>
            </a:r>
          </a:p>
        </p:txBody>
      </p:sp>
      <p:sp>
        <p:nvSpPr>
          <p:cNvPr id="6" name="">
            <a:extLst xmlns:a="http://schemas.openxmlformats.org/drawingml/2006/main">
              <a:ext uri="{FF2B5EF4-FFF2-40B4-BE49-F238E27FC236}">
                <a16:creationId xmlns:a16="http://schemas.microsoft.com/office/drawing/2014/main" id="{B2EEA14A-ECCA-461B-9373-A1D8936B30F8}"/>
              </a:ext>
            </a:extLst>
          </p:cNvPr>
          <p:cNvSpPr>
            <a:spLocks xmlns:a="http://schemas.openxmlformats.org/drawingml/2006/main" noGrp="1"/>
          </p:cNvSpPr>
          <p:nvPr/>
        </p:nvSpPr>
        <p:spPr>
          <a:xfrm xmlns:a="http://schemas.openxmlformats.org/drawingml/2006/main">
            <a:off x="647700" y="5924550"/>
            <a:ext cx="857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D8E9C3"/>
                </a:solidFill>
                <a:latin typeface="Arial"/>
                <a:ea typeface="Arial"/>
                <a:cs typeface="Arial"/>
              </a:defRPr>
            </a:defPPr>
          </a:lstStyle>
          <a:p xmlns:a="http://schemas.openxmlformats.org/drawingml/2006/main">
            <a:pPr>
              <a:defRPr sz="1500" b="0">
                <a:solidFill>
                  <a:srgbClr val="D8E9C3"/>
                </a:solidFill>
                <a:latin typeface="Arial"/>
                <a:ea typeface="Arial"/>
                <a:cs typeface="Arial"/>
              </a:defRPr>
            </a:pPr>
            <a:r>
              <a:rPr sz="1500" b="0">
                <a:solidFill>
                  <a:srgbClr val="D8E9C3"/>
                </a:solidFill>
                <a:latin typeface="Arial"/>
                <a:ea typeface="Arial"/>
                <a:cs typeface="Arial"/>
              </a:rPr>
              <a:t>Product presentation</a:t>
            </a:r>
          </a:p>
        </p:txBody>
      </p:sp>
    </p:spTree>
    <p:extLst>
      <p:ext uri="{BB962C8B-B14F-4D97-AF65-F5344CB8AC3E}">
        <p14:creationId xmlns:p14="http://schemas.microsoft.com/office/powerpoint/2010/main" val="806034071"/>
      </p:ext>
    </p:extLst>
  </p:cSld>
</p:sld>
</file>

<file path=ppt/slides/slide2.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3258DB9-0AEF-492F-9035-F20FA5910ADA}"/>
              </a:ext>
            </a:extLst>
          </p:cNvPr>
          <p:cNvSpPr>
            <a:spLocks xmlns:a="http://schemas.openxmlformats.org/drawingml/2006/main" noGrp="1"/>
          </p:cNvSpPr>
          <p:nvPr/>
        </p:nvSpPr>
        <p:spPr>
          <a:xfrm xmlns:a="http://schemas.openxmlformats.org/drawingml/2006/main">
            <a:off x="609600" y="352425"/>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1">
                <a:solidFill>
                  <a:srgbClr val="64795B"/>
                </a:solidFill>
                <a:latin typeface="Arial"/>
                <a:ea typeface="Arial"/>
                <a:cs typeface="Arial"/>
              </a:defRPr>
            </a:defPPr>
          </a:lstStyle>
          <a:p xmlns:a="http://schemas.openxmlformats.org/drawingml/2006/main">
            <a:pPr>
              <a:defRPr sz="1200" b="1">
                <a:solidFill>
                  <a:srgbClr val="64795B"/>
                </a:solidFill>
                <a:latin typeface="Arial"/>
                <a:ea typeface="Arial"/>
                <a:cs typeface="Arial"/>
              </a:defRPr>
            </a:pPr>
            <a:r>
              <a:rPr sz="1200" b="1">
                <a:solidFill>
                  <a:srgbClr val="64795B"/>
                </a:solidFill>
                <a:latin typeface="Arial"/>
                <a:ea typeface="Arial"/>
                <a:cs typeface="Arial"/>
              </a:rPr>
              <a:t>SECOND OPINION BY JHAAD LABS</a:t>
            </a:r>
          </a:p>
        </p:txBody>
      </p:sp>
      <p:sp>
        <p:nvSpPr>
          <p:cNvPr id="2" name="">
            <a:extLst xmlns:a="http://schemas.openxmlformats.org/drawingml/2006/main">
              <a:ext uri="{FF2B5EF4-FFF2-40B4-BE49-F238E27FC236}">
                <a16:creationId xmlns:a16="http://schemas.microsoft.com/office/drawing/2014/main" id="{3EE3ECC4-424F-4D26-8A5A-1C411C96092D}"/>
              </a:ext>
            </a:extLst>
          </p:cNvPr>
          <p:cNvSpPr>
            <a:spLocks xmlns:a="http://schemas.openxmlformats.org/drawingml/2006/main" noGrp="1"/>
          </p:cNvSpPr>
          <p:nvPr/>
        </p:nvSpPr>
        <p:spPr>
          <a:xfrm xmlns:a="http://schemas.openxmlformats.org/drawingml/2006/main">
            <a:off x="609600" y="9239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600" b="1">
                <a:solidFill>
                  <a:srgbClr val="243E2F"/>
                </a:solidFill>
                <a:latin typeface="Arial"/>
                <a:ea typeface="Arial"/>
                <a:cs typeface="Arial"/>
              </a:defRPr>
            </a:defPPr>
          </a:lstStyle>
          <a:p xmlns:a="http://schemas.openxmlformats.org/drawingml/2006/main">
            <a:pPr>
              <a:defRPr sz="3600" b="1">
                <a:solidFill>
                  <a:srgbClr val="243E2F"/>
                </a:solidFill>
                <a:latin typeface="Arial"/>
                <a:ea typeface="Arial"/>
                <a:cs typeface="Arial"/>
              </a:defRPr>
            </a:pPr>
            <a:r>
              <a:rPr sz="3600" b="1">
                <a:solidFill>
                  <a:srgbClr val="243E2F"/>
                </a:solidFill>
                <a:latin typeface="Arial"/>
                <a:ea typeface="Arial"/>
                <a:cs typeface="Arial"/>
              </a:rPr>
              <a:t>The cost of a convincing answer</a:t>
            </a:r>
          </a:p>
        </p:txBody>
      </p:sp>
      <p:sp>
        <p:nvSpPr>
          <p:cNvPr id="3" name="">
            <a:extLst xmlns:a="http://schemas.openxmlformats.org/drawingml/2006/main">
              <a:ext uri="{FF2B5EF4-FFF2-40B4-BE49-F238E27FC236}">
                <a16:creationId xmlns:a16="http://schemas.microsoft.com/office/drawing/2014/main" id="{4758DD8E-C68D-46FA-B659-0D1782D76C46}"/>
              </a:ext>
            </a:extLst>
          </p:cNvPr>
          <p:cNvSpPr>
            <a:spLocks xmlns:a="http://schemas.openxmlformats.org/drawingml/2006/main" noGrp="1"/>
          </p:cNvSpPr>
          <p:nvPr/>
        </p:nvSpPr>
        <p:spPr>
          <a:xfrm xmlns:a="http://schemas.openxmlformats.org/drawingml/2006/main">
            <a:off x="11049000" y="631507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200" b="0">
                <a:solidFill>
                  <a:srgbClr val="64795B"/>
                </a:solidFill>
                <a:latin typeface="Arial"/>
                <a:ea typeface="Arial"/>
                <a:cs typeface="Arial"/>
              </a:defRPr>
            </a:defPPr>
          </a:lstStyle>
          <a:p xmlns:a="http://schemas.openxmlformats.org/drawingml/2006/main">
            <a:pPr algn="r">
              <a:defRPr sz="1200" b="0">
                <a:solidFill>
                  <a:srgbClr val="64795B"/>
                </a:solidFill>
                <a:latin typeface="Arial"/>
                <a:ea typeface="Arial"/>
                <a:cs typeface="Arial"/>
              </a:defRPr>
            </a:pPr>
            <a:r>
              <a:rPr sz="1200" b="0">
                <a:solidFill>
                  <a:srgbClr val="64795B"/>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A20ED0B1-7728-436F-AE57-AB5B0D959E17}"/>
              </a:ext>
            </a:extLst>
          </p:cNvPr>
          <p:cNvSpPr>
            <a:spLocks xmlns:a="http://schemas.openxmlformats.org/drawingml/2006/main" noGrp="1"/>
          </p:cNvSpPr>
          <p:nvPr/>
        </p:nvSpPr>
        <p:spPr>
          <a:xfrm xmlns:a="http://schemas.openxmlformats.org/drawingml/2006/main">
            <a:off x="619125" y="2143125"/>
            <a:ext cx="447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1">
                <a:solidFill>
                  <a:srgbClr val="64795B"/>
                </a:solidFill>
                <a:latin typeface="Arial"/>
                <a:ea typeface="Arial"/>
                <a:cs typeface="Arial"/>
              </a:defRPr>
            </a:defPPr>
          </a:lstStyle>
          <a:p xmlns:a="http://schemas.openxmlformats.org/drawingml/2006/main">
            <a:pPr>
              <a:defRPr sz="1500" b="1">
                <a:solidFill>
                  <a:srgbClr val="64795B"/>
                </a:solidFill>
                <a:latin typeface="Arial"/>
                <a:ea typeface="Arial"/>
                <a:cs typeface="Arial"/>
              </a:defRPr>
            </a:pPr>
            <a:r>
              <a:rPr sz="1500" b="1">
                <a:solidFill>
                  <a:srgbClr val="64795B"/>
                </a:solidFill>
                <a:latin typeface="Arial"/>
                <a:ea typeface="Arial"/>
                <a:cs typeface="Arial"/>
              </a:rPr>
              <a:t>THE AI ANSWER</a:t>
            </a:r>
          </a:p>
        </p:txBody>
      </p:sp>
      <p:sp>
        <p:nvSpPr>
          <p:cNvPr id="5" name="">
            <a:extLst xmlns:a="http://schemas.openxmlformats.org/drawingml/2006/main">
              <a:ext uri="{FF2B5EF4-FFF2-40B4-BE49-F238E27FC236}">
                <a16:creationId xmlns:a16="http://schemas.microsoft.com/office/drawing/2014/main" id="{2C11BDA0-28DF-4435-8DDB-0B994144247C}"/>
              </a:ext>
            </a:extLst>
          </p:cNvPr>
          <p:cNvSpPr>
            <a:spLocks xmlns:a="http://schemas.openxmlformats.org/drawingml/2006/main" noGrp="1"/>
          </p:cNvSpPr>
          <p:nvPr/>
        </p:nvSpPr>
        <p:spPr>
          <a:xfrm xmlns:a="http://schemas.openxmlformats.org/drawingml/2006/main">
            <a:off x="609600" y="2714625"/>
            <a:ext cx="4667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7875" b="1">
                <a:solidFill>
                  <a:srgbClr val="A45133"/>
                </a:solidFill>
                <a:latin typeface="Arial"/>
                <a:ea typeface="Arial"/>
                <a:cs typeface="Arial"/>
              </a:defRPr>
            </a:defPPr>
          </a:lstStyle>
          <a:p xmlns:a="http://schemas.openxmlformats.org/drawingml/2006/main">
            <a:pPr>
              <a:defRPr sz="7875" b="1">
                <a:solidFill>
                  <a:srgbClr val="A45133"/>
                </a:solidFill>
                <a:latin typeface="Arial"/>
                <a:ea typeface="Arial"/>
                <a:cs typeface="Arial"/>
              </a:defRPr>
            </a:pPr>
            <a:r>
              <a:rPr sz="7875" b="1">
                <a:solidFill>
                  <a:srgbClr val="A45133"/>
                </a:solidFill>
                <a:latin typeface="Arial"/>
                <a:ea typeface="Arial"/>
                <a:cs typeface="Arial"/>
              </a:rPr>
              <a:t>30%</a:t>
            </a:r>
          </a:p>
        </p:txBody>
      </p:sp>
      <p:sp>
        <p:nvSpPr>
          <p:cNvPr id="6" name="">
            <a:extLst xmlns:a="http://schemas.openxmlformats.org/drawingml/2006/main">
              <a:ext uri="{FF2B5EF4-FFF2-40B4-BE49-F238E27FC236}">
                <a16:creationId xmlns:a16="http://schemas.microsoft.com/office/drawing/2014/main" id="{AEB865E1-F2AB-438F-9E4D-AA4FB539F476}"/>
              </a:ext>
            </a:extLst>
          </p:cNvPr>
          <p:cNvSpPr>
            <a:spLocks xmlns:a="http://schemas.openxmlformats.org/drawingml/2006/main" noGrp="1"/>
          </p:cNvSpPr>
          <p:nvPr/>
        </p:nvSpPr>
        <p:spPr>
          <a:xfrm xmlns:a="http://schemas.openxmlformats.org/drawingml/2006/main">
            <a:off x="638175" y="4000500"/>
            <a:ext cx="4667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E2F"/>
                </a:solidFill>
                <a:latin typeface="Arial"/>
                <a:ea typeface="Arial"/>
                <a:cs typeface="Arial"/>
              </a:defRPr>
            </a:defPPr>
          </a:lstStyle>
          <a:p xmlns:a="http://schemas.openxmlformats.org/drawingml/2006/main">
            <a:pPr>
              <a:defRPr sz="2175" b="0">
                <a:solidFill>
                  <a:srgbClr val="243E2F"/>
                </a:solidFill>
                <a:latin typeface="Arial"/>
                <a:ea typeface="Arial"/>
                <a:cs typeface="Arial"/>
              </a:defRPr>
            </a:pPr>
            <a:r>
              <a:rPr sz="2175" b="0">
                <a:solidFill>
                  <a:srgbClr val="243E2F"/>
                </a:solidFill>
                <a:latin typeface="Arial"/>
                <a:ea typeface="Arial"/>
                <a:cs typeface="Arial"/>
              </a:rPr>
              <a:t>“Users grew from 100 to 120.”</a:t>
            </a:r>
          </a:p>
        </p:txBody>
      </p:sp>
      <p:sp>
        <p:nvSpPr>
          <p:cNvPr id="7" name="">
            <a:extLst xmlns:a="http://schemas.openxmlformats.org/drawingml/2006/main">
              <a:ext uri="{FF2B5EF4-FFF2-40B4-BE49-F238E27FC236}">
                <a16:creationId xmlns:a16="http://schemas.microsoft.com/office/drawing/2014/main" id="{816DD1D1-8562-43D7-8415-65445D0888BF}"/>
              </a:ext>
            </a:extLst>
          </p:cNvPr>
          <p:cNvSpPr>
            <a:spLocks xmlns:a="http://schemas.openxmlformats.org/drawingml/2006/main" noGrp="1"/>
          </p:cNvSpPr>
          <p:nvPr/>
        </p:nvSpPr>
        <p:spPr>
          <a:xfrm xmlns:a="http://schemas.openxmlformats.org/drawingml/2006/main">
            <a:off x="6343650" y="2143125"/>
            <a:ext cx="514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1">
                <a:solidFill>
                  <a:srgbClr val="64795B"/>
                </a:solidFill>
                <a:latin typeface="Arial"/>
                <a:ea typeface="Arial"/>
                <a:cs typeface="Arial"/>
              </a:defRPr>
            </a:defPPr>
          </a:lstStyle>
          <a:p xmlns:a="http://schemas.openxmlformats.org/drawingml/2006/main">
            <a:pPr>
              <a:defRPr sz="1500" b="1">
                <a:solidFill>
                  <a:srgbClr val="64795B"/>
                </a:solidFill>
                <a:latin typeface="Arial"/>
                <a:ea typeface="Arial"/>
                <a:cs typeface="Arial"/>
              </a:defRPr>
            </a:pPr>
            <a:r>
              <a:rPr sz="1500" b="1">
                <a:solidFill>
                  <a:srgbClr val="64795B"/>
                </a:solidFill>
                <a:latin typeface="Arial"/>
                <a:ea typeface="Arial"/>
                <a:cs typeface="Arial"/>
              </a:rPr>
              <a:t>THE CHECKED CALCULATION</a:t>
            </a:r>
          </a:p>
        </p:txBody>
      </p:sp>
      <p:sp>
        <p:nvSpPr>
          <p:cNvPr id="8" name="">
            <a:extLst xmlns:a="http://schemas.openxmlformats.org/drawingml/2006/main">
              <a:ext uri="{FF2B5EF4-FFF2-40B4-BE49-F238E27FC236}">
                <a16:creationId xmlns:a16="http://schemas.microsoft.com/office/drawing/2014/main" id="{D4FC6E94-211E-4D6E-AF55-5D3E5BF91054}"/>
              </a:ext>
            </a:extLst>
          </p:cNvPr>
          <p:cNvSpPr>
            <a:spLocks xmlns:a="http://schemas.openxmlformats.org/drawingml/2006/main" noGrp="1"/>
          </p:cNvSpPr>
          <p:nvPr/>
        </p:nvSpPr>
        <p:spPr>
          <a:xfrm xmlns:a="http://schemas.openxmlformats.org/drawingml/2006/main">
            <a:off x="6305550" y="2714625"/>
            <a:ext cx="4572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7875" b="1">
                <a:solidFill>
                  <a:srgbClr val="35634B"/>
                </a:solidFill>
                <a:latin typeface="Arial"/>
                <a:ea typeface="Arial"/>
                <a:cs typeface="Arial"/>
              </a:defRPr>
            </a:defPPr>
          </a:lstStyle>
          <a:p xmlns:a="http://schemas.openxmlformats.org/drawingml/2006/main">
            <a:pPr>
              <a:defRPr sz="7875" b="1">
                <a:solidFill>
                  <a:srgbClr val="35634B"/>
                </a:solidFill>
                <a:latin typeface="Arial"/>
                <a:ea typeface="Arial"/>
                <a:cs typeface="Arial"/>
              </a:defRPr>
            </a:pPr>
            <a:r>
              <a:rPr sz="7875" b="1">
                <a:solidFill>
                  <a:srgbClr val="35634B"/>
                </a:solidFill>
                <a:latin typeface="Arial"/>
                <a:ea typeface="Arial"/>
                <a:cs typeface="Arial"/>
              </a:rPr>
              <a:t>20%</a:t>
            </a:r>
          </a:p>
        </p:txBody>
      </p:sp>
      <p:sp>
        <p:nvSpPr>
          <p:cNvPr id="9" name="">
            <a:extLst xmlns:a="http://schemas.openxmlformats.org/drawingml/2006/main">
              <a:ext uri="{FF2B5EF4-FFF2-40B4-BE49-F238E27FC236}">
                <a16:creationId xmlns:a16="http://schemas.microsoft.com/office/drawing/2014/main" id="{CB1D7C8F-0388-4E8F-B928-F6A3BC52A82A}"/>
              </a:ext>
            </a:extLst>
          </p:cNvPr>
          <p:cNvSpPr>
            <a:spLocks xmlns:a="http://schemas.openxmlformats.org/drawingml/2006/main" noGrp="1"/>
          </p:cNvSpPr>
          <p:nvPr/>
        </p:nvSpPr>
        <p:spPr>
          <a:xfrm xmlns:a="http://schemas.openxmlformats.org/drawingml/2006/main">
            <a:off x="6343650" y="4000500"/>
            <a:ext cx="5143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E2F"/>
                </a:solidFill>
                <a:latin typeface="Arial"/>
                <a:ea typeface="Arial"/>
                <a:cs typeface="Arial"/>
              </a:defRPr>
            </a:defPPr>
          </a:lstStyle>
          <a:p xmlns:a="http://schemas.openxmlformats.org/drawingml/2006/main">
            <a:pPr>
              <a:defRPr sz="2175" b="0">
                <a:solidFill>
                  <a:srgbClr val="243E2F"/>
                </a:solidFill>
                <a:latin typeface="Arial"/>
                <a:ea typeface="Arial"/>
                <a:cs typeface="Arial"/>
              </a:defRPr>
            </a:pPr>
            <a:r>
              <a:rPr sz="2175" b="0">
                <a:solidFill>
                  <a:srgbClr val="243E2F"/>
                </a:solidFill>
                <a:latin typeface="Arial"/>
                <a:ea typeface="Arial"/>
                <a:cs typeface="Arial"/>
              </a:rPr>
              <a:t>(120 − 100) ÷ 100 × 100</a:t>
            </a:r>
          </a:p>
        </p:txBody>
      </p:sp>
      <p:sp>
        <p:nvSpPr>
          <p:cNvPr id="10" name="">
            <a:extLst xmlns:a="http://schemas.openxmlformats.org/drawingml/2006/main">
              <a:ext uri="{FF2B5EF4-FFF2-40B4-BE49-F238E27FC236}">
                <a16:creationId xmlns:a16="http://schemas.microsoft.com/office/drawing/2014/main" id="{222350F6-F136-4DE8-925D-17E05CE09BFF}"/>
              </a:ext>
            </a:extLst>
          </p:cNvPr>
          <p:cNvSpPr>
            <a:spLocks xmlns:a="http://schemas.openxmlformats.org/drawingml/2006/main" noGrp="1"/>
          </p:cNvSpPr>
          <p:nvPr/>
        </p:nvSpPr>
        <p:spPr>
          <a:xfrm xmlns:a="http://schemas.openxmlformats.org/drawingml/2006/main">
            <a:off x="628650" y="5362575"/>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64795B"/>
                </a:solidFill>
                <a:latin typeface="Arial"/>
                <a:ea typeface="Arial"/>
                <a:cs typeface="Arial"/>
              </a:defRPr>
            </a:defPPr>
          </a:lstStyle>
          <a:p xmlns:a="http://schemas.openxmlformats.org/drawingml/2006/main">
            <a:pPr>
              <a:defRPr sz="2100" b="0">
                <a:solidFill>
                  <a:srgbClr val="64795B"/>
                </a:solidFill>
                <a:latin typeface="Arial"/>
                <a:ea typeface="Arial"/>
                <a:cs typeface="Arial"/>
              </a:defRPr>
            </a:pPr>
            <a:r>
              <a:rPr sz="2100" b="0">
                <a:solidFill>
                  <a:srgbClr val="64795B"/>
                </a:solidFill>
                <a:latin typeface="Arial"/>
                <a:ea typeface="Arial"/>
                <a:cs typeface="Arial"/>
              </a:rPr>
              <a:t>A confident prediction needs a different response: insufficient evidence.</a:t>
            </a:r>
          </a:p>
        </p:txBody>
      </p:sp>
    </p:spTree>
    <p:extLst>
      <p:ext uri="{BB962C8B-B14F-4D97-AF65-F5344CB8AC3E}">
        <p14:creationId xmlns:p14="http://schemas.microsoft.com/office/powerpoint/2010/main" val="525515118"/>
      </p:ext>
    </p:extLst>
  </p:cSld>
</p:sld>
</file>

<file path=ppt/slides/slide3.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A18524B-855C-4B76-A111-D3C5E483D14F}"/>
              </a:ext>
            </a:extLst>
          </p:cNvPr>
          <p:cNvSpPr>
            <a:spLocks xmlns:a="http://schemas.openxmlformats.org/drawingml/2006/main" noGrp="1"/>
          </p:cNvSpPr>
          <p:nvPr/>
        </p:nvSpPr>
        <p:spPr>
          <a:xfrm xmlns:a="http://schemas.openxmlformats.org/drawingml/2006/main">
            <a:off x="609600" y="352425"/>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1">
                <a:solidFill>
                  <a:srgbClr val="64795B"/>
                </a:solidFill>
                <a:latin typeface="Arial"/>
                <a:ea typeface="Arial"/>
                <a:cs typeface="Arial"/>
              </a:defRPr>
            </a:defPPr>
          </a:lstStyle>
          <a:p xmlns:a="http://schemas.openxmlformats.org/drawingml/2006/main">
            <a:pPr>
              <a:defRPr sz="1200" b="1">
                <a:solidFill>
                  <a:srgbClr val="64795B"/>
                </a:solidFill>
                <a:latin typeface="Arial"/>
                <a:ea typeface="Arial"/>
                <a:cs typeface="Arial"/>
              </a:defRPr>
            </a:pPr>
            <a:r>
              <a:rPr sz="1200" b="1">
                <a:solidFill>
                  <a:srgbClr val="64795B"/>
                </a:solidFill>
                <a:latin typeface="Arial"/>
                <a:ea typeface="Arial"/>
                <a:cs typeface="Arial"/>
              </a:rPr>
              <a:t>SECOND OPINION BY JHAAD LABS</a:t>
            </a:r>
          </a:p>
        </p:txBody>
      </p:sp>
      <p:sp>
        <p:nvSpPr>
          <p:cNvPr id="2" name="">
            <a:extLst xmlns:a="http://schemas.openxmlformats.org/drawingml/2006/main">
              <a:ext uri="{FF2B5EF4-FFF2-40B4-BE49-F238E27FC236}">
                <a16:creationId xmlns:a16="http://schemas.microsoft.com/office/drawing/2014/main" id="{140BCA7C-2EA2-445D-B448-76B84693735C}"/>
              </a:ext>
            </a:extLst>
          </p:cNvPr>
          <p:cNvSpPr>
            <a:spLocks xmlns:a="http://schemas.openxmlformats.org/drawingml/2006/main" noGrp="1"/>
          </p:cNvSpPr>
          <p:nvPr/>
        </p:nvSpPr>
        <p:spPr>
          <a:xfrm xmlns:a="http://schemas.openxmlformats.org/drawingml/2006/main">
            <a:off x="609600" y="9239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600" b="1">
                <a:solidFill>
                  <a:srgbClr val="243E2F"/>
                </a:solidFill>
                <a:latin typeface="Arial"/>
                <a:ea typeface="Arial"/>
                <a:cs typeface="Arial"/>
              </a:defRPr>
            </a:defPPr>
          </a:lstStyle>
          <a:p xmlns:a="http://schemas.openxmlformats.org/drawingml/2006/main">
            <a:pPr>
              <a:defRPr sz="3600" b="1">
                <a:solidFill>
                  <a:srgbClr val="243E2F"/>
                </a:solidFill>
                <a:latin typeface="Arial"/>
                <a:ea typeface="Arial"/>
                <a:cs typeface="Arial"/>
              </a:defRPr>
            </a:pPr>
            <a:r>
              <a:rPr sz="3600" b="1">
                <a:solidFill>
                  <a:srgbClr val="243E2F"/>
                </a:solidFill>
                <a:latin typeface="Arial"/>
                <a:ea typeface="Arial"/>
                <a:cs typeface="Arial"/>
              </a:rPr>
              <a:t>Your material. A guided review</a:t>
            </a:r>
          </a:p>
        </p:txBody>
      </p:sp>
      <p:sp>
        <p:nvSpPr>
          <p:cNvPr id="3" name="">
            <a:extLst xmlns:a="http://schemas.openxmlformats.org/drawingml/2006/main">
              <a:ext uri="{FF2B5EF4-FFF2-40B4-BE49-F238E27FC236}">
                <a16:creationId xmlns:a16="http://schemas.microsoft.com/office/drawing/2014/main" id="{6B997882-DF8C-43E0-81E5-5B580173E853}"/>
              </a:ext>
            </a:extLst>
          </p:cNvPr>
          <p:cNvSpPr>
            <a:spLocks xmlns:a="http://schemas.openxmlformats.org/drawingml/2006/main" noGrp="1"/>
          </p:cNvSpPr>
          <p:nvPr/>
        </p:nvSpPr>
        <p:spPr>
          <a:xfrm xmlns:a="http://schemas.openxmlformats.org/drawingml/2006/main">
            <a:off x="11049000" y="631507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200" b="0">
                <a:solidFill>
                  <a:srgbClr val="64795B"/>
                </a:solidFill>
                <a:latin typeface="Arial"/>
                <a:ea typeface="Arial"/>
                <a:cs typeface="Arial"/>
              </a:defRPr>
            </a:defPPr>
          </a:lstStyle>
          <a:p xmlns:a="http://schemas.openxmlformats.org/drawingml/2006/main">
            <a:pPr algn="r">
              <a:defRPr sz="1200" b="0">
                <a:solidFill>
                  <a:srgbClr val="64795B"/>
                </a:solidFill>
                <a:latin typeface="Arial"/>
                <a:ea typeface="Arial"/>
                <a:cs typeface="Arial"/>
              </a:defRPr>
            </a:pPr>
            <a:r>
              <a:rPr sz="1200" b="0">
                <a:solidFill>
                  <a:srgbClr val="64795B"/>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2849BAA9-EC6B-43E2-AB01-C6356597DDD0}"/>
              </a:ext>
            </a:extLst>
          </p:cNvPr>
          <p:cNvSpPr>
            <a:spLocks xmlns:a="http://schemas.openxmlformats.org/drawingml/2006/main" noGrp="1"/>
          </p:cNvSpPr>
          <p:nvPr/>
        </p:nvSpPr>
        <p:spPr>
          <a:xfrm xmlns:a="http://schemas.openxmlformats.org/drawingml/2006/main">
            <a:off x="619125" y="210502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35634B"/>
                </a:solidFill>
                <a:latin typeface="Arial"/>
                <a:ea typeface="Arial"/>
                <a:cs typeface="Arial"/>
              </a:defRPr>
            </a:defPPr>
          </a:lstStyle>
          <a:p xmlns:a="http://schemas.openxmlformats.org/drawingml/2006/main">
            <a:pPr>
              <a:defRPr sz="2175" b="1">
                <a:solidFill>
                  <a:srgbClr val="35634B"/>
                </a:solidFill>
                <a:latin typeface="Arial"/>
                <a:ea typeface="Arial"/>
                <a:cs typeface="Arial"/>
              </a:defRPr>
            </a:pPr>
            <a:r>
              <a:rPr sz="2175" b="1">
                <a:solidFill>
                  <a:srgbClr val="35634B"/>
                </a:solidFill>
                <a:latin typeface="Arial"/>
                <a:ea typeface="Arial"/>
                <a:cs typeface="Arial"/>
              </a:rPr>
              <a:t>01   Add original sources</a:t>
            </a:r>
          </a:p>
        </p:txBody>
      </p:sp>
      <p:sp>
        <p:nvSpPr>
          <p:cNvPr id="5" name="">
            <a:extLst xmlns:a="http://schemas.openxmlformats.org/drawingml/2006/main">
              <a:ext uri="{FF2B5EF4-FFF2-40B4-BE49-F238E27FC236}">
                <a16:creationId xmlns:a16="http://schemas.microsoft.com/office/drawing/2014/main" id="{B2B73DCB-7F5C-4F09-B26E-4DF7FBB3E8E9}"/>
              </a:ext>
            </a:extLst>
          </p:cNvPr>
          <p:cNvSpPr>
            <a:spLocks xmlns:a="http://schemas.openxmlformats.org/drawingml/2006/main" noGrp="1"/>
          </p:cNvSpPr>
          <p:nvPr/>
        </p:nvSpPr>
        <p:spPr>
          <a:xfrm xmlns:a="http://schemas.openxmlformats.org/drawingml/2006/main">
            <a:off x="1066800" y="2609850"/>
            <a:ext cx="4095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243E2F"/>
                </a:solidFill>
                <a:latin typeface="Arial"/>
                <a:ea typeface="Arial"/>
                <a:cs typeface="Arial"/>
              </a:defRPr>
            </a:defPPr>
          </a:lstStyle>
          <a:p xmlns:a="http://schemas.openxmlformats.org/drawingml/2006/main">
            <a:pPr>
              <a:defRPr sz="1875" b="0">
                <a:solidFill>
                  <a:srgbClr val="243E2F"/>
                </a:solidFill>
                <a:latin typeface="Arial"/>
                <a:ea typeface="Arial"/>
                <a:cs typeface="Arial"/>
              </a:defRPr>
            </a:pPr>
            <a:r>
              <a:rPr sz="1875" b="0">
                <a:solidFill>
                  <a:srgbClr val="243E2F"/>
                </a:solidFill>
                <a:latin typeface="Arial"/>
                <a:ea typeface="Arial"/>
                <a:cs typeface="Arial"/>
              </a:rPr>
              <a:t>PDF, TXT, Markdown, CSV</a:t>
            </a:r>
          </a:p>
          <a:p xmlns:a="http://schemas.openxmlformats.org/drawingml/2006/main">
            <a:pPr>
              <a:defRPr sz="1875" b="0">
                <a:solidFill>
                  <a:srgbClr val="243E2F"/>
                </a:solidFill>
                <a:latin typeface="Arial"/>
                <a:ea typeface="Arial"/>
                <a:cs typeface="Arial"/>
              </a:defRPr>
            </a:pPr>
            <a:r>
              <a:rPr sz="1875" b="0">
                <a:solidFill>
                  <a:srgbClr val="243E2F"/>
                </a:solidFill>
                <a:latin typeface="Arial"/>
                <a:ea typeface="Arial"/>
                <a:cs typeface="Arial"/>
              </a:rPr>
              <a:t>and pasted text</a:t>
            </a:r>
          </a:p>
        </p:txBody>
      </p:sp>
      <p:sp>
        <p:nvSpPr>
          <p:cNvPr id="6" name="">
            <a:extLst xmlns:a="http://schemas.openxmlformats.org/drawingml/2006/main">
              <a:ext uri="{FF2B5EF4-FFF2-40B4-BE49-F238E27FC236}">
                <a16:creationId xmlns:a16="http://schemas.microsoft.com/office/drawing/2014/main" id="{09B9F3ED-3DE6-4F95-9473-29746855F2D0}"/>
              </a:ext>
            </a:extLst>
          </p:cNvPr>
          <p:cNvSpPr>
            <a:spLocks xmlns:a="http://schemas.openxmlformats.org/drawingml/2006/main" noGrp="1"/>
          </p:cNvSpPr>
          <p:nvPr/>
        </p:nvSpPr>
        <p:spPr>
          <a:xfrm xmlns:a="http://schemas.openxmlformats.org/drawingml/2006/main">
            <a:off x="619125" y="369570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35634B"/>
                </a:solidFill>
                <a:latin typeface="Arial"/>
                <a:ea typeface="Arial"/>
                <a:cs typeface="Arial"/>
              </a:defRPr>
            </a:defPPr>
          </a:lstStyle>
          <a:p xmlns:a="http://schemas.openxmlformats.org/drawingml/2006/main">
            <a:pPr>
              <a:defRPr sz="2175" b="1">
                <a:solidFill>
                  <a:srgbClr val="35634B"/>
                </a:solidFill>
                <a:latin typeface="Arial"/>
                <a:ea typeface="Arial"/>
                <a:cs typeface="Arial"/>
              </a:defRPr>
            </a:pPr>
            <a:r>
              <a:rPr sz="2175" b="1">
                <a:solidFill>
                  <a:srgbClr val="35634B"/>
                </a:solidFill>
                <a:latin typeface="Arial"/>
                <a:ea typeface="Arial"/>
                <a:cs typeface="Arial"/>
              </a:rPr>
              <a:t>02   Add the AI answer</a:t>
            </a:r>
          </a:p>
        </p:txBody>
      </p:sp>
      <p:sp>
        <p:nvSpPr>
          <p:cNvPr id="7" name="">
            <a:extLst xmlns:a="http://schemas.openxmlformats.org/drawingml/2006/main">
              <a:ext uri="{FF2B5EF4-FFF2-40B4-BE49-F238E27FC236}">
                <a16:creationId xmlns:a16="http://schemas.microsoft.com/office/drawing/2014/main" id="{11D704F7-ABDB-47D8-9B62-660A5C34F8C4}"/>
              </a:ext>
            </a:extLst>
          </p:cNvPr>
          <p:cNvSpPr>
            <a:spLocks xmlns:a="http://schemas.openxmlformats.org/drawingml/2006/main" noGrp="1"/>
          </p:cNvSpPr>
          <p:nvPr/>
        </p:nvSpPr>
        <p:spPr>
          <a:xfrm xmlns:a="http://schemas.openxmlformats.org/drawingml/2006/main">
            <a:off x="619125" y="44767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35634B"/>
                </a:solidFill>
                <a:latin typeface="Arial"/>
                <a:ea typeface="Arial"/>
                <a:cs typeface="Arial"/>
              </a:defRPr>
            </a:defPPr>
          </a:lstStyle>
          <a:p xmlns:a="http://schemas.openxmlformats.org/drawingml/2006/main">
            <a:pPr>
              <a:defRPr sz="2175" b="1">
                <a:solidFill>
                  <a:srgbClr val="35634B"/>
                </a:solidFill>
                <a:latin typeface="Arial"/>
                <a:ea typeface="Arial"/>
                <a:cs typeface="Arial"/>
              </a:defRPr>
            </a:pPr>
            <a:r>
              <a:rPr sz="2175" b="1">
                <a:solidFill>
                  <a:srgbClr val="35634B"/>
                </a:solidFill>
                <a:latin typeface="Arial"/>
                <a:ea typeface="Arial"/>
                <a:cs typeface="Arial"/>
              </a:rPr>
              <a:t>03   Review and run</a:t>
            </a:r>
          </a:p>
        </p:txBody>
      </p:sp>
      <p:sp>
        <p:nvSpPr>
          <p:cNvPr id="8" name="">
            <a:extLst xmlns:a="http://schemas.openxmlformats.org/drawingml/2006/main">
              <a:ext uri="{FF2B5EF4-FFF2-40B4-BE49-F238E27FC236}">
                <a16:creationId xmlns:a16="http://schemas.microsoft.com/office/drawing/2014/main" id="{85127815-1058-44A0-A092-68CBDB5FB986}"/>
              </a:ext>
            </a:extLst>
          </p:cNvPr>
          <p:cNvSpPr>
            <a:spLocks xmlns:a="http://schemas.openxmlformats.org/drawingml/2006/main" noGrp="1"/>
          </p:cNvSpPr>
          <p:nvPr/>
        </p:nvSpPr>
        <p:spPr>
          <a:xfrm xmlns:a="http://schemas.openxmlformats.org/drawingml/2006/main">
            <a:off x="619125" y="5324475"/>
            <a:ext cx="4619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64795B"/>
                </a:solidFill>
                <a:latin typeface="Arial"/>
                <a:ea typeface="Arial"/>
                <a:cs typeface="Arial"/>
              </a:defRPr>
            </a:defPPr>
          </a:lstStyle>
          <a:p xmlns:a="http://schemas.openxmlformats.org/drawingml/2006/main">
            <a:pPr>
              <a:defRPr sz="1800" b="0">
                <a:solidFill>
                  <a:srgbClr val="64795B"/>
                </a:solidFill>
                <a:latin typeface="Arial"/>
                <a:ea typeface="Arial"/>
                <a:cs typeface="Arial"/>
              </a:defRPr>
            </a:pPr>
            <a:r>
              <a:rPr sz="1800" b="0">
                <a:solidFill>
                  <a:srgbClr val="64795B"/>
                </a:solidFill>
                <a:latin typeface="Arial"/>
                <a:ea typeface="Arial"/>
                <a:cs typeface="Arial"/>
              </a:rPr>
              <a:t>Reusable source collections</a:t>
            </a:r>
          </a:p>
          <a:p xmlns:a="http://schemas.openxmlformats.org/drawingml/2006/main">
            <a:pPr>
              <a:defRPr sz="1800" b="0">
                <a:solidFill>
                  <a:srgbClr val="64795B"/>
                </a:solidFill>
                <a:latin typeface="Arial"/>
                <a:ea typeface="Arial"/>
                <a:cs typeface="Arial"/>
              </a:defRPr>
            </a:pPr>
            <a:r>
              <a:rPr sz="1800" b="0">
                <a:solidFill>
                  <a:srgbClr val="64795B"/>
                </a:solidFill>
                <a:latin typeface="Arial"/>
                <a:ea typeface="Arial"/>
                <a:cs typeface="Arial"/>
              </a:rPr>
              <a:t>Search inside your documents</a:t>
            </a:r>
          </a:p>
        </p:txBody>
      </p:sp>
      <p:pic>
        <p:nvPicPr>
          <p:cNvPr id="9" name="">
            <a:extLst xmlns:a="http://schemas.openxmlformats.org/drawingml/2006/main">
              <a:ext uri="{FF2B5EF4-FFF2-40B4-BE49-F238E27FC236}">
                <a16:creationId xmlns:a16="http://schemas.microsoft.com/office/drawing/2014/main" id="{683C74CC-425B-4794-BE33-EBAACE30BE88}"/>
              </a:ext>
            </a:extLst>
          </p:cNvPr>
          <p:cNvPicPr>
            <a:picLocks xmlns:a="http://schemas.openxmlformats.org/drawingml/2006/main" noChangeAspect="1"/>
          </p:cNvPicPr>
          <p:nvPr/>
        </p:nvPicPr>
        <p:blipFill>
          <a:blip xmlns:r="http://schemas.openxmlformats.org/officeDocument/2006/relationships" xmlns:a="http://schemas.openxmlformats.org/drawingml/2006/main" r:embed="R8a111880c1f7441d"/>
          <a:srcRect xmlns:a="http://schemas.openxmlformats.org/drawingml/2006/main" l="0" t="0" r="0" b="20000"/>
          <a:stretch xmlns:a="http://schemas.openxmlformats.org/drawingml/2006/main"/>
        </p:blipFill>
        <p:spPr>
          <a:xfrm xmlns:a="http://schemas.openxmlformats.org/drawingml/2006/main">
            <a:off x="5619750" y="2086107"/>
            <a:ext cx="5953125" cy="3962135"/>
          </a:xfrm>
          <a:prstGeom xmlns:a="http://schemas.openxmlformats.org/drawingml/2006/main" prst="rect">
            <a:avLst/>
          </a:prstGeom>
        </p:spPr>
      </p:pic>
    </p:spTree>
    <p:extLst>
      <p:ext uri="{BB962C8B-B14F-4D97-AF65-F5344CB8AC3E}">
        <p14:creationId xmlns:p14="http://schemas.microsoft.com/office/powerpoint/2010/main" val="1963135411"/>
      </p:ext>
    </p:extLst>
  </p:cSld>
</p:sld>
</file>

<file path=ppt/slides/slide4.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29799A1-F5E8-405B-9EAC-9C1643666EDB}"/>
              </a:ext>
            </a:extLst>
          </p:cNvPr>
          <p:cNvSpPr>
            <a:spLocks xmlns:a="http://schemas.openxmlformats.org/drawingml/2006/main" noGrp="1"/>
          </p:cNvSpPr>
          <p:nvPr/>
        </p:nvSpPr>
        <p:spPr>
          <a:xfrm xmlns:a="http://schemas.openxmlformats.org/drawingml/2006/main">
            <a:off x="609600" y="352425"/>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1">
                <a:solidFill>
                  <a:srgbClr val="64795B"/>
                </a:solidFill>
                <a:latin typeface="Arial"/>
                <a:ea typeface="Arial"/>
                <a:cs typeface="Arial"/>
              </a:defRPr>
            </a:defPPr>
          </a:lstStyle>
          <a:p xmlns:a="http://schemas.openxmlformats.org/drawingml/2006/main">
            <a:pPr>
              <a:defRPr sz="1200" b="1">
                <a:solidFill>
                  <a:srgbClr val="64795B"/>
                </a:solidFill>
                <a:latin typeface="Arial"/>
                <a:ea typeface="Arial"/>
                <a:cs typeface="Arial"/>
              </a:defRPr>
            </a:pPr>
            <a:r>
              <a:rPr sz="1200" b="1">
                <a:solidFill>
                  <a:srgbClr val="64795B"/>
                </a:solidFill>
                <a:latin typeface="Arial"/>
                <a:ea typeface="Arial"/>
                <a:cs typeface="Arial"/>
              </a:rPr>
              <a:t>SECOND OPINION BY JHAAD LABS</a:t>
            </a:r>
          </a:p>
        </p:txBody>
      </p:sp>
      <p:sp>
        <p:nvSpPr>
          <p:cNvPr id="2" name="">
            <a:extLst xmlns:a="http://schemas.openxmlformats.org/drawingml/2006/main">
              <a:ext uri="{FF2B5EF4-FFF2-40B4-BE49-F238E27FC236}">
                <a16:creationId xmlns:a16="http://schemas.microsoft.com/office/drawing/2014/main" id="{540086E9-01CE-4076-AFC9-2779356DC958}"/>
              </a:ext>
            </a:extLst>
          </p:cNvPr>
          <p:cNvSpPr>
            <a:spLocks xmlns:a="http://schemas.openxmlformats.org/drawingml/2006/main" noGrp="1"/>
          </p:cNvSpPr>
          <p:nvPr/>
        </p:nvSpPr>
        <p:spPr>
          <a:xfrm xmlns:a="http://schemas.openxmlformats.org/drawingml/2006/main">
            <a:off x="609600" y="9239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600" b="1">
                <a:solidFill>
                  <a:srgbClr val="243E2F"/>
                </a:solidFill>
                <a:latin typeface="Arial"/>
                <a:ea typeface="Arial"/>
                <a:cs typeface="Arial"/>
              </a:defRPr>
            </a:defPPr>
          </a:lstStyle>
          <a:p xmlns:a="http://schemas.openxmlformats.org/drawingml/2006/main">
            <a:pPr>
              <a:defRPr sz="3600" b="1">
                <a:solidFill>
                  <a:srgbClr val="243E2F"/>
                </a:solidFill>
                <a:latin typeface="Arial"/>
                <a:ea typeface="Arial"/>
                <a:cs typeface="Arial"/>
              </a:defRPr>
            </a:pPr>
            <a:r>
              <a:rPr sz="3600" b="1">
                <a:solidFill>
                  <a:srgbClr val="243E2F"/>
                </a:solidFill>
                <a:latin typeface="Arial"/>
                <a:ea typeface="Arial"/>
                <a:cs typeface="Arial"/>
              </a:rPr>
              <a:t>Every claim gets an evidence trail</a:t>
            </a:r>
          </a:p>
        </p:txBody>
      </p:sp>
      <p:sp>
        <p:nvSpPr>
          <p:cNvPr id="3" name="">
            <a:extLst xmlns:a="http://schemas.openxmlformats.org/drawingml/2006/main">
              <a:ext uri="{FF2B5EF4-FFF2-40B4-BE49-F238E27FC236}">
                <a16:creationId xmlns:a16="http://schemas.microsoft.com/office/drawing/2014/main" id="{C26CDCE3-FD3F-48BB-99F7-519E9C43183D}"/>
              </a:ext>
            </a:extLst>
          </p:cNvPr>
          <p:cNvSpPr>
            <a:spLocks xmlns:a="http://schemas.openxmlformats.org/drawingml/2006/main" noGrp="1"/>
          </p:cNvSpPr>
          <p:nvPr/>
        </p:nvSpPr>
        <p:spPr>
          <a:xfrm xmlns:a="http://schemas.openxmlformats.org/drawingml/2006/main">
            <a:off x="11049000" y="631507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200" b="0">
                <a:solidFill>
                  <a:srgbClr val="64795B"/>
                </a:solidFill>
                <a:latin typeface="Arial"/>
                <a:ea typeface="Arial"/>
                <a:cs typeface="Arial"/>
              </a:defRPr>
            </a:defPPr>
          </a:lstStyle>
          <a:p xmlns:a="http://schemas.openxmlformats.org/drawingml/2006/main">
            <a:pPr algn="r">
              <a:defRPr sz="1200" b="0">
                <a:solidFill>
                  <a:srgbClr val="64795B"/>
                </a:solidFill>
                <a:latin typeface="Arial"/>
                <a:ea typeface="Arial"/>
                <a:cs typeface="Arial"/>
              </a:defRPr>
            </a:pPr>
            <a:r>
              <a:rPr sz="1200" b="0">
                <a:solidFill>
                  <a:srgbClr val="64795B"/>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E5D33850-97BD-481C-818E-17BBE3C31FA4}"/>
              </a:ext>
            </a:extLst>
          </p:cNvPr>
          <p:cNvSpPr>
            <a:spLocks xmlns:a="http://schemas.openxmlformats.org/drawingml/2006/main" noGrp="1"/>
          </p:cNvSpPr>
          <p:nvPr/>
        </p:nvSpPr>
        <p:spPr>
          <a:xfrm xmlns:a="http://schemas.openxmlformats.org/drawingml/2006/main">
            <a:off x="619125" y="2152650"/>
            <a:ext cx="4381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35634B"/>
                </a:solidFill>
                <a:latin typeface="Arial"/>
                <a:ea typeface="Arial"/>
                <a:cs typeface="Arial"/>
              </a:defRPr>
            </a:defPPr>
          </a:lstStyle>
          <a:p xmlns:a="http://schemas.openxmlformats.org/drawingml/2006/main">
            <a:pPr>
              <a:defRPr sz="2175" b="1">
                <a:solidFill>
                  <a:srgbClr val="35634B"/>
                </a:solidFill>
                <a:latin typeface="Arial"/>
                <a:ea typeface="Arial"/>
                <a:cs typeface="Arial"/>
              </a:defRPr>
            </a:pPr>
            <a:r>
              <a:rPr sz="2175" b="1">
                <a:solidFill>
                  <a:srgbClr val="35634B"/>
                </a:solidFill>
                <a:latin typeface="Arial"/>
                <a:ea typeface="Arial"/>
                <a:cs typeface="Arial"/>
              </a:rPr>
              <a:t>Supported</a:t>
            </a:r>
          </a:p>
        </p:txBody>
      </p:sp>
      <p:sp>
        <p:nvSpPr>
          <p:cNvPr id="5" name="">
            <a:extLst xmlns:a="http://schemas.openxmlformats.org/drawingml/2006/main">
              <a:ext uri="{FF2B5EF4-FFF2-40B4-BE49-F238E27FC236}">
                <a16:creationId xmlns:a16="http://schemas.microsoft.com/office/drawing/2014/main" id="{9F296265-1400-4C11-A5C4-E999B9BB0B6F}"/>
              </a:ext>
            </a:extLst>
          </p:cNvPr>
          <p:cNvSpPr>
            <a:spLocks xmlns:a="http://schemas.openxmlformats.org/drawingml/2006/main" noGrp="1"/>
          </p:cNvSpPr>
          <p:nvPr/>
        </p:nvSpPr>
        <p:spPr>
          <a:xfrm xmlns:a="http://schemas.openxmlformats.org/drawingml/2006/main">
            <a:off x="619125" y="2847975"/>
            <a:ext cx="4381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A45133"/>
                </a:solidFill>
                <a:latin typeface="Arial"/>
                <a:ea typeface="Arial"/>
                <a:cs typeface="Arial"/>
              </a:defRPr>
            </a:defPPr>
          </a:lstStyle>
          <a:p xmlns:a="http://schemas.openxmlformats.org/drawingml/2006/main">
            <a:pPr>
              <a:defRPr sz="2175" b="1">
                <a:solidFill>
                  <a:srgbClr val="A45133"/>
                </a:solidFill>
                <a:latin typeface="Arial"/>
                <a:ea typeface="Arial"/>
                <a:cs typeface="Arial"/>
              </a:defRPr>
            </a:pPr>
            <a:r>
              <a:rPr sz="2175" b="1">
                <a:solidFill>
                  <a:srgbClr val="A45133"/>
                </a:solidFill>
                <a:latin typeface="Arial"/>
                <a:ea typeface="Arial"/>
                <a:cs typeface="Arial"/>
              </a:rPr>
              <a:t>Contradicted</a:t>
            </a:r>
          </a:p>
        </p:txBody>
      </p:sp>
      <p:sp>
        <p:nvSpPr>
          <p:cNvPr id="6" name="">
            <a:extLst xmlns:a="http://schemas.openxmlformats.org/drawingml/2006/main">
              <a:ext uri="{FF2B5EF4-FFF2-40B4-BE49-F238E27FC236}">
                <a16:creationId xmlns:a16="http://schemas.microsoft.com/office/drawing/2014/main" id="{E42E4E2D-79B0-4CF9-B5C3-6A10609650B9}"/>
              </a:ext>
            </a:extLst>
          </p:cNvPr>
          <p:cNvSpPr>
            <a:spLocks xmlns:a="http://schemas.openxmlformats.org/drawingml/2006/main" noGrp="1"/>
          </p:cNvSpPr>
          <p:nvPr/>
        </p:nvSpPr>
        <p:spPr>
          <a:xfrm xmlns:a="http://schemas.openxmlformats.org/drawingml/2006/main">
            <a:off x="619125" y="3543300"/>
            <a:ext cx="4381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637063"/>
                </a:solidFill>
                <a:latin typeface="Arial"/>
                <a:ea typeface="Arial"/>
                <a:cs typeface="Arial"/>
              </a:defRPr>
            </a:defPPr>
          </a:lstStyle>
          <a:p xmlns:a="http://schemas.openxmlformats.org/drawingml/2006/main">
            <a:pPr>
              <a:defRPr sz="2175" b="1">
                <a:solidFill>
                  <a:srgbClr val="637063"/>
                </a:solidFill>
                <a:latin typeface="Arial"/>
                <a:ea typeface="Arial"/>
                <a:cs typeface="Arial"/>
              </a:defRPr>
            </a:pPr>
            <a:r>
              <a:rPr sz="2175" b="1">
                <a:solidFill>
                  <a:srgbClr val="637063"/>
                </a:solidFill>
                <a:latin typeface="Arial"/>
                <a:ea typeface="Arial"/>
                <a:cs typeface="Arial"/>
              </a:rPr>
              <a:t>Insufficient evidence</a:t>
            </a:r>
          </a:p>
        </p:txBody>
      </p:sp>
      <p:sp>
        <p:nvSpPr>
          <p:cNvPr id="7" name="">
            <a:extLst xmlns:a="http://schemas.openxmlformats.org/drawingml/2006/main">
              <a:ext uri="{FF2B5EF4-FFF2-40B4-BE49-F238E27FC236}">
                <a16:creationId xmlns:a16="http://schemas.microsoft.com/office/drawing/2014/main" id="{862423F2-3195-4975-B449-DA2EFD56882F}"/>
              </a:ext>
            </a:extLst>
          </p:cNvPr>
          <p:cNvSpPr>
            <a:spLocks xmlns:a="http://schemas.openxmlformats.org/drawingml/2006/main" noGrp="1"/>
          </p:cNvSpPr>
          <p:nvPr/>
        </p:nvSpPr>
        <p:spPr>
          <a:xfrm xmlns:a="http://schemas.openxmlformats.org/drawingml/2006/main">
            <a:off x="619125" y="4238625"/>
            <a:ext cx="4381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8B6B2B"/>
                </a:solidFill>
                <a:latin typeface="Arial"/>
                <a:ea typeface="Arial"/>
                <a:cs typeface="Arial"/>
              </a:defRPr>
            </a:defPPr>
          </a:lstStyle>
          <a:p xmlns:a="http://schemas.openxmlformats.org/drawingml/2006/main">
            <a:pPr>
              <a:defRPr sz="2175" b="1">
                <a:solidFill>
                  <a:srgbClr val="8B6B2B"/>
                </a:solidFill>
                <a:latin typeface="Arial"/>
                <a:ea typeface="Arial"/>
                <a:cs typeface="Arial"/>
              </a:defRPr>
            </a:pPr>
            <a:r>
              <a:rPr sz="2175" b="1">
                <a:solidFill>
                  <a:srgbClr val="8B6B2B"/>
                </a:solidFill>
                <a:latin typeface="Arial"/>
                <a:ea typeface="Arial"/>
                <a:cs typeface="Arial"/>
              </a:rPr>
              <a:t>Ambiguous</a:t>
            </a:r>
          </a:p>
        </p:txBody>
      </p:sp>
      <p:pic>
        <p:nvPicPr>
          <p:cNvPr id="8" name="">
            <a:extLst xmlns:a="http://schemas.openxmlformats.org/drawingml/2006/main">
              <a:ext uri="{FF2B5EF4-FFF2-40B4-BE49-F238E27FC236}">
                <a16:creationId xmlns:a16="http://schemas.microsoft.com/office/drawing/2014/main" id="{F121F2F7-C9DC-4EB4-9A9D-BF4070B267C4}"/>
              </a:ext>
            </a:extLst>
          </p:cNvPr>
          <p:cNvPicPr>
            <a:picLocks xmlns:a="http://schemas.openxmlformats.org/drawingml/2006/main" noChangeAspect="1"/>
          </p:cNvPicPr>
          <p:nvPr/>
        </p:nvPicPr>
        <p:blipFill>
          <a:blip xmlns:r="http://schemas.openxmlformats.org/officeDocument/2006/relationships" xmlns:a="http://schemas.openxmlformats.org/drawingml/2006/main" r:embed="R6142ea69aa004745"/>
          <a:srcRect xmlns:a="http://schemas.openxmlformats.org/drawingml/2006/main" l="19000" t="53500" r="2700" b="10000"/>
          <a:stretch xmlns:a="http://schemas.openxmlformats.org/drawingml/2006/main"/>
        </p:blipFill>
        <p:spPr>
          <a:xfrm xmlns:a="http://schemas.openxmlformats.org/drawingml/2006/main">
            <a:off x="4991100" y="2564626"/>
            <a:ext cx="6591300" cy="2443122"/>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E66E5B72-7E36-440C-A786-814F0B0740DB}"/>
              </a:ext>
            </a:extLst>
          </p:cNvPr>
          <p:cNvSpPr>
            <a:spLocks xmlns:a="http://schemas.openxmlformats.org/drawingml/2006/main" noGrp="1"/>
          </p:cNvSpPr>
          <p:nvPr/>
        </p:nvSpPr>
        <p:spPr>
          <a:xfrm xmlns:a="http://schemas.openxmlformats.org/drawingml/2006/main">
            <a:off x="5019675" y="5667375"/>
            <a:ext cx="64960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64795B"/>
                </a:solidFill>
                <a:latin typeface="Arial"/>
                <a:ea typeface="Arial"/>
                <a:cs typeface="Arial"/>
              </a:defRPr>
            </a:defPPr>
          </a:lstStyle>
          <a:p xmlns:a="http://schemas.openxmlformats.org/drawingml/2006/main">
            <a:pPr>
              <a:defRPr sz="1800" b="0">
                <a:solidFill>
                  <a:srgbClr val="64795B"/>
                </a:solidFill>
                <a:latin typeface="Arial"/>
                <a:ea typeface="Arial"/>
                <a:cs typeface="Arial"/>
              </a:defRPr>
            </a:pPr>
            <a:r>
              <a:rPr sz="1800" b="0">
                <a:solidFill>
                  <a:srgbClr val="64795B"/>
                </a:solidFill>
                <a:latin typeface="Arial"/>
                <a:ea typeface="Arial"/>
                <a:cs typeface="Arial"/>
              </a:rPr>
              <a:t>Source quotations with page or line references</a:t>
            </a:r>
          </a:p>
        </p:txBody>
      </p:sp>
      <p:sp>
        <p:nvSpPr>
          <p:cNvPr id="10" name="">
            <a:extLst xmlns:a="http://schemas.openxmlformats.org/drawingml/2006/main">
              <a:ext uri="{FF2B5EF4-FFF2-40B4-BE49-F238E27FC236}">
                <a16:creationId xmlns:a16="http://schemas.microsoft.com/office/drawing/2014/main" id="{89F1AB1B-C85D-4C23-9A6C-E60BC974C543}"/>
              </a:ext>
            </a:extLst>
          </p:cNvPr>
          <p:cNvSpPr>
            <a:spLocks xmlns:a="http://schemas.openxmlformats.org/drawingml/2006/main" noGrp="1"/>
          </p:cNvSpPr>
          <p:nvPr/>
        </p:nvSpPr>
        <p:spPr>
          <a:xfrm xmlns:a="http://schemas.openxmlformats.org/drawingml/2006/main">
            <a:off x="619125" y="5257800"/>
            <a:ext cx="4267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64795B"/>
                </a:solidFill>
                <a:latin typeface="Arial"/>
                <a:ea typeface="Arial"/>
                <a:cs typeface="Arial"/>
              </a:defRPr>
            </a:defPPr>
          </a:lstStyle>
          <a:p xmlns:a="http://schemas.openxmlformats.org/drawingml/2006/main">
            <a:pPr>
              <a:defRPr sz="1800" b="0">
                <a:solidFill>
                  <a:srgbClr val="64795B"/>
                </a:solidFill>
                <a:latin typeface="Arial"/>
                <a:ea typeface="Arial"/>
                <a:cs typeface="Arial"/>
              </a:defRPr>
            </a:pPr>
            <a:r>
              <a:rPr sz="1800" b="0">
                <a:solidFill>
                  <a:srgbClr val="64795B"/>
                </a:solidFill>
                <a:latin typeface="Arial"/>
                <a:ea typeface="Arial"/>
                <a:cs typeface="Arial"/>
              </a:rPr>
              <a:t>Numerical checks</a:t>
            </a:r>
          </a:p>
          <a:p xmlns:a="http://schemas.openxmlformats.org/drawingml/2006/main">
            <a:pPr>
              <a:defRPr sz="1800" b="0">
                <a:solidFill>
                  <a:srgbClr val="64795B"/>
                </a:solidFill>
                <a:latin typeface="Arial"/>
                <a:ea typeface="Arial"/>
                <a:cs typeface="Arial"/>
              </a:defRPr>
            </a:pPr>
            <a:r>
              <a:rPr sz="1800" b="0">
                <a:solidFill>
                  <a:srgbClr val="64795B"/>
                </a:solidFill>
                <a:latin typeface="Arial"/>
                <a:ea typeface="Arial"/>
                <a:cs typeface="Arial"/>
              </a:rPr>
              <a:t>Internal consistency</a:t>
            </a:r>
          </a:p>
          <a:p xmlns:a="http://schemas.openxmlformats.org/drawingml/2006/main">
            <a:pPr>
              <a:defRPr sz="1800" b="0">
                <a:solidFill>
                  <a:srgbClr val="64795B"/>
                </a:solidFill>
                <a:latin typeface="Arial"/>
                <a:ea typeface="Arial"/>
                <a:cs typeface="Arial"/>
              </a:defRPr>
            </a:pPr>
            <a:r>
              <a:rPr sz="1800" b="0">
                <a:solidFill>
                  <a:srgbClr val="64795B"/>
                </a:solidFill>
                <a:latin typeface="Arial"/>
                <a:ea typeface="Arial"/>
                <a:cs typeface="Arial"/>
              </a:rPr>
              <a:t>Reasoning links and review flags</a:t>
            </a:r>
          </a:p>
        </p:txBody>
      </p:sp>
    </p:spTree>
    <p:extLst>
      <p:ext uri="{BB962C8B-B14F-4D97-AF65-F5344CB8AC3E}">
        <p14:creationId xmlns:p14="http://schemas.microsoft.com/office/powerpoint/2010/main" val="991118754"/>
      </p:ext>
    </p:extLst>
  </p:cSld>
</p:sld>
</file>

<file path=ppt/slides/slide5.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8C25307-1AB4-4BE9-A3D6-3EDC069A97EA}"/>
              </a:ext>
            </a:extLst>
          </p:cNvPr>
          <p:cNvSpPr>
            <a:spLocks xmlns:a="http://schemas.openxmlformats.org/drawingml/2006/main" noGrp="1"/>
          </p:cNvSpPr>
          <p:nvPr/>
        </p:nvSpPr>
        <p:spPr>
          <a:xfrm xmlns:a="http://schemas.openxmlformats.org/drawingml/2006/main">
            <a:off x="609600" y="352425"/>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1">
                <a:solidFill>
                  <a:srgbClr val="64795B"/>
                </a:solidFill>
                <a:latin typeface="Arial"/>
                <a:ea typeface="Arial"/>
                <a:cs typeface="Arial"/>
              </a:defRPr>
            </a:defPPr>
          </a:lstStyle>
          <a:p xmlns:a="http://schemas.openxmlformats.org/drawingml/2006/main">
            <a:pPr>
              <a:defRPr sz="1200" b="1">
                <a:solidFill>
                  <a:srgbClr val="64795B"/>
                </a:solidFill>
                <a:latin typeface="Arial"/>
                <a:ea typeface="Arial"/>
                <a:cs typeface="Arial"/>
              </a:defRPr>
            </a:pPr>
            <a:r>
              <a:rPr sz="1200" b="1">
                <a:solidFill>
                  <a:srgbClr val="64795B"/>
                </a:solidFill>
                <a:latin typeface="Arial"/>
                <a:ea typeface="Arial"/>
                <a:cs typeface="Arial"/>
              </a:rPr>
              <a:t>SECOND OPINION BY JHAAD LABS</a:t>
            </a:r>
          </a:p>
        </p:txBody>
      </p:sp>
      <p:sp>
        <p:nvSpPr>
          <p:cNvPr id="2" name="">
            <a:extLst xmlns:a="http://schemas.openxmlformats.org/drawingml/2006/main">
              <a:ext uri="{FF2B5EF4-FFF2-40B4-BE49-F238E27FC236}">
                <a16:creationId xmlns:a16="http://schemas.microsoft.com/office/drawing/2014/main" id="{B7D376DD-09D3-4BBC-809D-A182247CF36A}"/>
              </a:ext>
            </a:extLst>
          </p:cNvPr>
          <p:cNvSpPr>
            <a:spLocks xmlns:a="http://schemas.openxmlformats.org/drawingml/2006/main" noGrp="1"/>
          </p:cNvSpPr>
          <p:nvPr/>
        </p:nvSpPr>
        <p:spPr>
          <a:xfrm xmlns:a="http://schemas.openxmlformats.org/drawingml/2006/main">
            <a:off x="609600" y="9239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600" b="1">
                <a:solidFill>
                  <a:srgbClr val="243E2F"/>
                </a:solidFill>
                <a:latin typeface="Arial"/>
                <a:ea typeface="Arial"/>
                <a:cs typeface="Arial"/>
              </a:defRPr>
            </a:defPPr>
          </a:lstStyle>
          <a:p xmlns:a="http://schemas.openxmlformats.org/drawingml/2006/main">
            <a:pPr>
              <a:defRPr sz="3600" b="1">
                <a:solidFill>
                  <a:srgbClr val="243E2F"/>
                </a:solidFill>
                <a:latin typeface="Arial"/>
                <a:ea typeface="Arial"/>
                <a:cs typeface="Arial"/>
              </a:defRPr>
            </a:pPr>
            <a:r>
              <a:rPr sz="3600" b="1">
                <a:solidFill>
                  <a:srgbClr val="243E2F"/>
                </a:solidFill>
                <a:latin typeface="Arial"/>
                <a:ea typeface="Arial"/>
                <a:cs typeface="Arial"/>
              </a:rPr>
              <a:t>A useful next step for every gap</a:t>
            </a:r>
          </a:p>
        </p:txBody>
      </p:sp>
      <p:sp>
        <p:nvSpPr>
          <p:cNvPr id="3" name="">
            <a:extLst xmlns:a="http://schemas.openxmlformats.org/drawingml/2006/main">
              <a:ext uri="{FF2B5EF4-FFF2-40B4-BE49-F238E27FC236}">
                <a16:creationId xmlns:a16="http://schemas.microsoft.com/office/drawing/2014/main" id="{0C795A63-17DD-437D-9D2E-8A733C357895}"/>
              </a:ext>
            </a:extLst>
          </p:cNvPr>
          <p:cNvSpPr>
            <a:spLocks xmlns:a="http://schemas.openxmlformats.org/drawingml/2006/main" noGrp="1"/>
          </p:cNvSpPr>
          <p:nvPr/>
        </p:nvSpPr>
        <p:spPr>
          <a:xfrm xmlns:a="http://schemas.openxmlformats.org/drawingml/2006/main">
            <a:off x="11049000" y="631507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200" b="0">
                <a:solidFill>
                  <a:srgbClr val="64795B"/>
                </a:solidFill>
                <a:latin typeface="Arial"/>
                <a:ea typeface="Arial"/>
                <a:cs typeface="Arial"/>
              </a:defRPr>
            </a:defPPr>
          </a:lstStyle>
          <a:p xmlns:a="http://schemas.openxmlformats.org/drawingml/2006/main">
            <a:pPr algn="r">
              <a:defRPr sz="1200" b="0">
                <a:solidFill>
                  <a:srgbClr val="64795B"/>
                </a:solidFill>
                <a:latin typeface="Arial"/>
                <a:ea typeface="Arial"/>
                <a:cs typeface="Arial"/>
              </a:defRPr>
            </a:pPr>
            <a:r>
              <a:rPr sz="1200" b="0">
                <a:solidFill>
                  <a:srgbClr val="64795B"/>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40C3BB72-C4C4-4325-A642-80BEEF9DECD1}"/>
              </a:ext>
            </a:extLst>
          </p:cNvPr>
          <p:cNvSpPr>
            <a:spLocks xmlns:a="http://schemas.openxmlformats.org/drawingml/2006/main" noGrp="1"/>
          </p:cNvSpPr>
          <p:nvPr/>
        </p:nvSpPr>
        <p:spPr>
          <a:xfrm xmlns:a="http://schemas.openxmlformats.org/drawingml/2006/main">
            <a:off x="619125" y="2047875"/>
            <a:ext cx="45243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625" b="1">
                <a:solidFill>
                  <a:srgbClr val="243E2F"/>
                </a:solidFill>
                <a:latin typeface="Arial"/>
                <a:ea typeface="Arial"/>
                <a:cs typeface="Arial"/>
              </a:defRPr>
            </a:defPPr>
          </a:lstStyle>
          <a:p xmlns:a="http://schemas.openxmlformats.org/drawingml/2006/main">
            <a:pPr>
              <a:defRPr sz="2625" b="1">
                <a:solidFill>
                  <a:srgbClr val="243E2F"/>
                </a:solidFill>
                <a:latin typeface="Arial"/>
                <a:ea typeface="Arial"/>
                <a:cs typeface="Arial"/>
              </a:defRPr>
            </a:pPr>
            <a:r>
              <a:rPr sz="2625" b="1">
                <a:solidFill>
                  <a:srgbClr val="243E2F"/>
                </a:solidFill>
                <a:latin typeface="Arial"/>
                <a:ea typeface="Arial"/>
                <a:cs typeface="Arial"/>
              </a:rPr>
              <a:t>“Proved” needs more than</a:t>
            </a:r>
          </a:p>
          <a:p xmlns:a="http://schemas.openxmlformats.org/drawingml/2006/main">
            <a:pPr>
              <a:defRPr sz="2625" b="1">
                <a:solidFill>
                  <a:srgbClr val="243E2F"/>
                </a:solidFill>
                <a:latin typeface="Arial"/>
                <a:ea typeface="Arial"/>
                <a:cs typeface="Arial"/>
              </a:defRPr>
            </a:pPr>
            <a:r>
              <a:rPr sz="2625" b="1">
                <a:solidFill>
                  <a:srgbClr val="243E2F"/>
                </a:solidFill>
                <a:latin typeface="Arial"/>
                <a:ea typeface="Arial"/>
                <a:cs typeface="Arial"/>
              </a:rPr>
              <a:t>a confident sentence</a:t>
            </a:r>
          </a:p>
        </p:txBody>
      </p:sp>
      <p:sp>
        <p:nvSpPr>
          <p:cNvPr id="5" name="">
            <a:extLst xmlns:a="http://schemas.openxmlformats.org/drawingml/2006/main">
              <a:ext uri="{FF2B5EF4-FFF2-40B4-BE49-F238E27FC236}">
                <a16:creationId xmlns:a16="http://schemas.microsoft.com/office/drawing/2014/main" id="{A23282E2-8CD0-4D3A-AAC0-E6712FC1AA06}"/>
              </a:ext>
            </a:extLst>
          </p:cNvPr>
          <p:cNvSpPr>
            <a:spLocks xmlns:a="http://schemas.openxmlformats.org/drawingml/2006/main" noGrp="1"/>
          </p:cNvSpPr>
          <p:nvPr/>
        </p:nvSpPr>
        <p:spPr>
          <a:xfrm xmlns:a="http://schemas.openxmlformats.org/drawingml/2006/main">
            <a:off x="619125" y="3286125"/>
            <a:ext cx="4095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0">
                <a:solidFill>
                  <a:srgbClr val="64795B"/>
                </a:solidFill>
                <a:latin typeface="Arial"/>
                <a:ea typeface="Arial"/>
                <a:cs typeface="Arial"/>
              </a:defRPr>
            </a:defPPr>
          </a:lstStyle>
          <a:p xmlns:a="http://schemas.openxmlformats.org/drawingml/2006/main">
            <a:pPr>
              <a:defRPr sz="1950" b="0">
                <a:solidFill>
                  <a:srgbClr val="64795B"/>
                </a:solidFill>
                <a:latin typeface="Arial"/>
                <a:ea typeface="Arial"/>
                <a:cs typeface="Arial"/>
              </a:defRPr>
            </a:pPr>
            <a:r>
              <a:rPr sz="1950" b="0">
                <a:solidFill>
                  <a:srgbClr val="64795B"/>
                </a:solidFill>
                <a:latin typeface="Arial"/>
                <a:ea typeface="Arial"/>
                <a:cs typeface="Arial"/>
              </a:rPr>
              <a:t>Wording review</a:t>
            </a:r>
          </a:p>
          <a:p xmlns:a="http://schemas.openxmlformats.org/drawingml/2006/main">
            <a:pPr>
              <a:defRPr sz="1950" b="0">
                <a:solidFill>
                  <a:srgbClr val="64795B"/>
                </a:solidFill>
                <a:latin typeface="Arial"/>
                <a:ea typeface="Arial"/>
                <a:cs typeface="Arial"/>
              </a:defRPr>
            </a:pPr>
            <a:r>
              <a:rPr sz="1950" b="0">
                <a:solidFill>
                  <a:srgbClr val="64795B"/>
                </a:solidFill>
                <a:latin typeface="Arial"/>
                <a:ea typeface="Arial"/>
                <a:cs typeface="Arial"/>
              </a:rPr>
              <a:t>Flags certainty cues when support is missing.</a:t>
            </a:r>
          </a:p>
        </p:txBody>
      </p:sp>
      <p:sp>
        <p:nvSpPr>
          <p:cNvPr id="6" name="">
            <a:extLst xmlns:a="http://schemas.openxmlformats.org/drawingml/2006/main">
              <a:ext uri="{FF2B5EF4-FFF2-40B4-BE49-F238E27FC236}">
                <a16:creationId xmlns:a16="http://schemas.microsoft.com/office/drawing/2014/main" id="{4AA35715-80CF-4A01-8374-20A193791153}"/>
              </a:ext>
            </a:extLst>
          </p:cNvPr>
          <p:cNvSpPr>
            <a:spLocks xmlns:a="http://schemas.openxmlformats.org/drawingml/2006/main" noGrp="1"/>
          </p:cNvSpPr>
          <p:nvPr/>
        </p:nvSpPr>
        <p:spPr>
          <a:xfrm xmlns:a="http://schemas.openxmlformats.org/drawingml/2006/main">
            <a:off x="619125" y="4733925"/>
            <a:ext cx="4095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0">
                <a:solidFill>
                  <a:srgbClr val="64795B"/>
                </a:solidFill>
                <a:latin typeface="Arial"/>
                <a:ea typeface="Arial"/>
                <a:cs typeface="Arial"/>
              </a:defRPr>
            </a:defPPr>
          </a:lstStyle>
          <a:p xmlns:a="http://schemas.openxmlformats.org/drawingml/2006/main">
            <a:pPr>
              <a:defRPr sz="1950" b="0">
                <a:solidFill>
                  <a:srgbClr val="64795B"/>
                </a:solidFill>
                <a:latin typeface="Arial"/>
                <a:ea typeface="Arial"/>
                <a:cs typeface="Arial"/>
              </a:defRPr>
            </a:pPr>
            <a:r>
              <a:rPr sz="1950" b="0">
                <a:solidFill>
                  <a:srgbClr val="64795B"/>
                </a:solidFill>
                <a:latin typeface="Arial"/>
                <a:ea typeface="Arial"/>
                <a:cs typeface="Arial"/>
              </a:rPr>
              <a:t>Evidence needed</a:t>
            </a:r>
          </a:p>
          <a:p xmlns:a="http://schemas.openxmlformats.org/drawingml/2006/main">
            <a:pPr>
              <a:defRPr sz="1950" b="0">
                <a:solidFill>
                  <a:srgbClr val="64795B"/>
                </a:solidFill>
                <a:latin typeface="Arial"/>
                <a:ea typeface="Arial"/>
                <a:cs typeface="Arial"/>
              </a:defRPr>
            </a:pPr>
            <a:r>
              <a:rPr sz="1950" b="0">
                <a:solidFill>
                  <a:srgbClr val="64795B"/>
                </a:solidFill>
                <a:latin typeface="Arial"/>
                <a:ea typeface="Arial"/>
                <a:cs typeface="Arial"/>
              </a:rPr>
              <a:t>Suggests what to look for next.</a:t>
            </a:r>
          </a:p>
        </p:txBody>
      </p:sp>
      <p:pic>
        <p:nvPicPr>
          <p:cNvPr id="7" name="">
            <a:extLst xmlns:a="http://schemas.openxmlformats.org/drawingml/2006/main">
              <a:ext uri="{FF2B5EF4-FFF2-40B4-BE49-F238E27FC236}">
                <a16:creationId xmlns:a16="http://schemas.microsoft.com/office/drawing/2014/main" id="{ACB46C3C-A2B1-4876-8220-DA135343C603}"/>
              </a:ext>
            </a:extLst>
          </p:cNvPr>
          <p:cNvPicPr>
            <a:picLocks xmlns:a="http://schemas.openxmlformats.org/drawingml/2006/main" noChangeAspect="1"/>
          </p:cNvPicPr>
          <p:nvPr/>
        </p:nvPicPr>
        <p:blipFill>
          <a:blip xmlns:r="http://schemas.openxmlformats.org/officeDocument/2006/relationships" xmlns:a="http://schemas.openxmlformats.org/drawingml/2006/main" r:embed="R00872e88ce764c67"/>
          <a:srcRect xmlns:a="http://schemas.openxmlformats.org/drawingml/2006/main" l="19000" t="58000" r="2900" b="7200"/>
          <a:stretch xmlns:a="http://schemas.openxmlformats.org/drawingml/2006/main"/>
        </p:blipFill>
        <p:spPr>
          <a:xfrm xmlns:a="http://schemas.openxmlformats.org/drawingml/2006/main">
            <a:off x="5143500" y="2483085"/>
            <a:ext cx="6438900" cy="273955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A56365E6-8122-4D0A-8587-957DDA342916}"/>
              </a:ext>
            </a:extLst>
          </p:cNvPr>
          <p:cNvSpPr>
            <a:spLocks xmlns:a="http://schemas.openxmlformats.org/drawingml/2006/main" noGrp="1"/>
          </p:cNvSpPr>
          <p:nvPr/>
        </p:nvSpPr>
        <p:spPr>
          <a:xfrm xmlns:a="http://schemas.openxmlformats.org/drawingml/2006/main">
            <a:off x="5143500" y="5800725"/>
            <a:ext cx="6381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64795B"/>
                </a:solidFill>
                <a:latin typeface="Arial"/>
                <a:ea typeface="Arial"/>
                <a:cs typeface="Arial"/>
              </a:defRPr>
            </a:defPPr>
          </a:lstStyle>
          <a:p xmlns:a="http://schemas.openxmlformats.org/drawingml/2006/main">
            <a:pPr>
              <a:defRPr sz="1650" b="0">
                <a:solidFill>
                  <a:srgbClr val="64795B"/>
                </a:solidFill>
                <a:latin typeface="Arial"/>
                <a:ea typeface="Arial"/>
                <a:cs typeface="Arial"/>
              </a:defRPr>
            </a:pPr>
            <a:r>
              <a:rPr sz="1650" b="0">
                <a:solidFill>
                  <a:srgbClr val="64795B"/>
                </a:solidFill>
                <a:latin typeface="Arial"/>
                <a:ea typeface="Arial"/>
                <a:cs typeface="Arial"/>
              </a:rPr>
              <a:t>Transparent review prompts, separate from AI verdicts</a:t>
            </a:r>
          </a:p>
        </p:txBody>
      </p:sp>
    </p:spTree>
    <p:extLst>
      <p:ext uri="{BB962C8B-B14F-4D97-AF65-F5344CB8AC3E}">
        <p14:creationId xmlns:p14="http://schemas.microsoft.com/office/powerpoint/2010/main" val="1348043323"/>
      </p:ext>
    </p:extLst>
  </p:cSld>
</p:sld>
</file>

<file path=ppt/slides/slide6.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A2421656-051B-48F7-8BA6-2E8DFBA63057}"/>
              </a:ext>
            </a:extLst>
          </p:cNvPr>
          <p:cNvSpPr>
            <a:spLocks xmlns:a="http://schemas.openxmlformats.org/drawingml/2006/main" noGrp="1"/>
          </p:cNvSpPr>
          <p:nvPr/>
        </p:nvSpPr>
        <p:spPr>
          <a:xfrm xmlns:a="http://schemas.openxmlformats.org/drawingml/2006/main">
            <a:off x="609600" y="352425"/>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1">
                <a:solidFill>
                  <a:srgbClr val="64795B"/>
                </a:solidFill>
                <a:latin typeface="Arial"/>
                <a:ea typeface="Arial"/>
                <a:cs typeface="Arial"/>
              </a:defRPr>
            </a:defPPr>
          </a:lstStyle>
          <a:p xmlns:a="http://schemas.openxmlformats.org/drawingml/2006/main">
            <a:pPr>
              <a:defRPr sz="1200" b="1">
                <a:solidFill>
                  <a:srgbClr val="64795B"/>
                </a:solidFill>
                <a:latin typeface="Arial"/>
                <a:ea typeface="Arial"/>
                <a:cs typeface="Arial"/>
              </a:defRPr>
            </a:pPr>
            <a:r>
              <a:rPr sz="1200" b="1">
                <a:solidFill>
                  <a:srgbClr val="64795B"/>
                </a:solidFill>
                <a:latin typeface="Arial"/>
                <a:ea typeface="Arial"/>
                <a:cs typeface="Arial"/>
              </a:rPr>
              <a:t>SECOND OPINION BY JHAAD LABS</a:t>
            </a:r>
          </a:p>
        </p:txBody>
      </p:sp>
      <p:sp>
        <p:nvSpPr>
          <p:cNvPr id="2" name="">
            <a:extLst xmlns:a="http://schemas.openxmlformats.org/drawingml/2006/main">
              <a:ext uri="{FF2B5EF4-FFF2-40B4-BE49-F238E27FC236}">
                <a16:creationId xmlns:a16="http://schemas.microsoft.com/office/drawing/2014/main" id="{5BEBD0A5-2052-43D5-B079-6436D9418C5A}"/>
              </a:ext>
            </a:extLst>
          </p:cNvPr>
          <p:cNvSpPr>
            <a:spLocks xmlns:a="http://schemas.openxmlformats.org/drawingml/2006/main" noGrp="1"/>
          </p:cNvSpPr>
          <p:nvPr/>
        </p:nvSpPr>
        <p:spPr>
          <a:xfrm xmlns:a="http://schemas.openxmlformats.org/drawingml/2006/main">
            <a:off x="609600" y="9239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600" b="1">
                <a:solidFill>
                  <a:srgbClr val="243E2F"/>
                </a:solidFill>
                <a:latin typeface="Arial"/>
                <a:ea typeface="Arial"/>
                <a:cs typeface="Arial"/>
              </a:defRPr>
            </a:defPPr>
          </a:lstStyle>
          <a:p xmlns:a="http://schemas.openxmlformats.org/drawingml/2006/main">
            <a:pPr>
              <a:defRPr sz="3600" b="1">
                <a:solidFill>
                  <a:srgbClr val="243E2F"/>
                </a:solidFill>
                <a:latin typeface="Arial"/>
                <a:ea typeface="Arial"/>
                <a:cs typeface="Arial"/>
              </a:defRPr>
            </a:pPr>
            <a:r>
              <a:rPr sz="3600" b="1">
                <a:solidFill>
                  <a:srgbClr val="243E2F"/>
                </a:solidFill>
                <a:latin typeface="Arial"/>
                <a:ea typeface="Arial"/>
                <a:cs typeface="Arial"/>
              </a:rPr>
              <a:t>Review, revise, and keep the context</a:t>
            </a:r>
          </a:p>
        </p:txBody>
      </p:sp>
      <p:sp>
        <p:nvSpPr>
          <p:cNvPr id="3" name="">
            <a:extLst xmlns:a="http://schemas.openxmlformats.org/drawingml/2006/main">
              <a:ext uri="{FF2B5EF4-FFF2-40B4-BE49-F238E27FC236}">
                <a16:creationId xmlns:a16="http://schemas.microsoft.com/office/drawing/2014/main" id="{3983072F-6F87-4863-81A1-EBC5EAC4F968}"/>
              </a:ext>
            </a:extLst>
          </p:cNvPr>
          <p:cNvSpPr>
            <a:spLocks xmlns:a="http://schemas.openxmlformats.org/drawingml/2006/main" noGrp="1"/>
          </p:cNvSpPr>
          <p:nvPr/>
        </p:nvSpPr>
        <p:spPr>
          <a:xfrm xmlns:a="http://schemas.openxmlformats.org/drawingml/2006/main">
            <a:off x="11049000" y="631507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200" b="0">
                <a:solidFill>
                  <a:srgbClr val="64795B"/>
                </a:solidFill>
                <a:latin typeface="Arial"/>
                <a:ea typeface="Arial"/>
                <a:cs typeface="Arial"/>
              </a:defRPr>
            </a:defPPr>
          </a:lstStyle>
          <a:p xmlns:a="http://schemas.openxmlformats.org/drawingml/2006/main">
            <a:pPr algn="r">
              <a:defRPr sz="1200" b="0">
                <a:solidFill>
                  <a:srgbClr val="64795B"/>
                </a:solidFill>
                <a:latin typeface="Arial"/>
                <a:ea typeface="Arial"/>
                <a:cs typeface="Arial"/>
              </a:defRPr>
            </a:pPr>
            <a:r>
              <a:rPr sz="1200" b="0">
                <a:solidFill>
                  <a:srgbClr val="64795B"/>
                </a:solidFill>
                <a:latin typeface="Arial"/>
                <a:ea typeface="Arial"/>
                <a:cs typeface="Arial"/>
              </a:rPr>
              <a:t>06</a:t>
            </a:r>
          </a:p>
        </p:txBody>
      </p:sp>
      <p:sp>
        <p:nvSpPr>
          <p:cNvPr id="4" name="">
            <a:extLst xmlns:a="http://schemas.openxmlformats.org/drawingml/2006/main">
              <a:ext uri="{FF2B5EF4-FFF2-40B4-BE49-F238E27FC236}">
                <a16:creationId xmlns:a16="http://schemas.microsoft.com/office/drawing/2014/main" id="{AD807AC4-0A25-4E09-AE3B-57AD22719480}"/>
              </a:ext>
            </a:extLst>
          </p:cNvPr>
          <p:cNvSpPr>
            <a:spLocks xmlns:a="http://schemas.openxmlformats.org/drawingml/2006/main" noGrp="1"/>
          </p:cNvSpPr>
          <p:nvPr/>
        </p:nvSpPr>
        <p:spPr>
          <a:xfrm xmlns:a="http://schemas.openxmlformats.org/drawingml/2006/main">
            <a:off x="619125" y="2038350"/>
            <a:ext cx="1038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35634B"/>
                </a:solidFill>
                <a:latin typeface="Arial"/>
                <a:ea typeface="Arial"/>
                <a:cs typeface="Arial"/>
              </a:defRPr>
            </a:defPPr>
          </a:lstStyle>
          <a:p xmlns:a="http://schemas.openxmlformats.org/drawingml/2006/main">
            <a:pPr>
              <a:defRPr sz="2250" b="1">
                <a:solidFill>
                  <a:srgbClr val="35634B"/>
                </a:solidFill>
                <a:latin typeface="Arial"/>
                <a:ea typeface="Arial"/>
                <a:cs typeface="Arial"/>
              </a:defRPr>
            </a:pPr>
            <a:r>
              <a:rPr sz="2250" b="1">
                <a:solidFill>
                  <a:srgbClr val="35634B"/>
                </a:solidFill>
                <a:latin typeface="Arial"/>
                <a:ea typeface="Arial"/>
                <a:cs typeface="Arial"/>
              </a:rPr>
              <a:t>Human review stays visible</a:t>
            </a:r>
          </a:p>
        </p:txBody>
      </p:sp>
      <p:sp>
        <p:nvSpPr>
          <p:cNvPr id="5" name="">
            <a:extLst xmlns:a="http://schemas.openxmlformats.org/drawingml/2006/main">
              <a:ext uri="{FF2B5EF4-FFF2-40B4-BE49-F238E27FC236}">
                <a16:creationId xmlns:a16="http://schemas.microsoft.com/office/drawing/2014/main" id="{3FB6955A-1957-4538-8CED-2AA8831FBFB5}"/>
              </a:ext>
            </a:extLst>
          </p:cNvPr>
          <p:cNvSpPr>
            <a:spLocks xmlns:a="http://schemas.openxmlformats.org/drawingml/2006/main" noGrp="1"/>
          </p:cNvSpPr>
          <p:nvPr/>
        </p:nvSpPr>
        <p:spPr>
          <a:xfrm xmlns:a="http://schemas.openxmlformats.org/drawingml/2006/main">
            <a:off x="619125" y="252412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243E2F"/>
                </a:solidFill>
                <a:latin typeface="Arial"/>
                <a:ea typeface="Arial"/>
                <a:cs typeface="Arial"/>
              </a:defRPr>
            </a:defPPr>
          </a:lstStyle>
          <a:p xmlns:a="http://schemas.openxmlformats.org/drawingml/2006/main">
            <a:pPr>
              <a:defRPr sz="2025" b="0">
                <a:solidFill>
                  <a:srgbClr val="243E2F"/>
                </a:solidFill>
                <a:latin typeface="Arial"/>
                <a:ea typeface="Arial"/>
                <a:cs typeface="Arial"/>
              </a:defRPr>
            </a:pPr>
            <a:r>
              <a:rPr sz="2025" b="0">
                <a:solidFill>
                  <a:srgbClr val="243E2F"/>
                </a:solidFill>
                <a:latin typeface="Arial"/>
                <a:ea typeface="Arial"/>
                <a:cs typeface="Arial"/>
              </a:rPr>
              <a:t>Notes and manual verdicts sit alongside the original findings.</a:t>
            </a:r>
          </a:p>
        </p:txBody>
      </p:sp>
      <p:sp>
        <p:nvSpPr>
          <p:cNvPr id="6" name="">
            <a:extLst xmlns:a="http://schemas.openxmlformats.org/drawingml/2006/main">
              <a:ext uri="{FF2B5EF4-FFF2-40B4-BE49-F238E27FC236}">
                <a16:creationId xmlns:a16="http://schemas.microsoft.com/office/drawing/2014/main" id="{7DB9907D-9F71-4BF7-BD3E-F01CE52EEA16}"/>
              </a:ext>
            </a:extLst>
          </p:cNvPr>
          <p:cNvSpPr>
            <a:spLocks xmlns:a="http://schemas.openxmlformats.org/drawingml/2006/main" noGrp="1"/>
          </p:cNvSpPr>
          <p:nvPr/>
        </p:nvSpPr>
        <p:spPr>
          <a:xfrm xmlns:a="http://schemas.openxmlformats.org/drawingml/2006/main">
            <a:off x="619125" y="3476625"/>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1">
                <a:solidFill>
                  <a:srgbClr val="64795B"/>
                </a:solidFill>
                <a:latin typeface="Arial"/>
                <a:ea typeface="Arial"/>
                <a:cs typeface="Arial"/>
              </a:defRPr>
            </a:defPPr>
          </a:lstStyle>
          <a:p xmlns:a="http://schemas.openxmlformats.org/drawingml/2006/main">
            <a:pPr>
              <a:defRPr sz="1500" b="1">
                <a:solidFill>
                  <a:srgbClr val="64795B"/>
                </a:solidFill>
                <a:latin typeface="Arial"/>
                <a:ea typeface="Arial"/>
                <a:cs typeface="Arial"/>
              </a:defRPr>
            </a:pPr>
            <a:r>
              <a:rPr sz="1500" b="1">
                <a:solidFill>
                  <a:srgbClr val="64795B"/>
                </a:solidFill>
                <a:latin typeface="Arial"/>
                <a:ea typeface="Arial"/>
                <a:cs typeface="Arial"/>
              </a:rPr>
              <a:t>BEFORE</a:t>
            </a:r>
          </a:p>
        </p:txBody>
      </p:sp>
      <p:sp>
        <p:nvSpPr>
          <p:cNvPr id="7" name="">
            <a:extLst xmlns:a="http://schemas.openxmlformats.org/drawingml/2006/main">
              <a:ext uri="{FF2B5EF4-FFF2-40B4-BE49-F238E27FC236}">
                <a16:creationId xmlns:a16="http://schemas.microsoft.com/office/drawing/2014/main" id="{559B110A-6828-4518-A148-6D8FD9A8D55A}"/>
              </a:ext>
            </a:extLst>
          </p:cNvPr>
          <p:cNvSpPr>
            <a:spLocks xmlns:a="http://schemas.openxmlformats.org/drawingml/2006/main" noGrp="1"/>
          </p:cNvSpPr>
          <p:nvPr/>
        </p:nvSpPr>
        <p:spPr>
          <a:xfrm xmlns:a="http://schemas.openxmlformats.org/drawingml/2006/main">
            <a:off x="619125" y="4000500"/>
            <a:ext cx="285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5100" b="1">
                <a:solidFill>
                  <a:srgbClr val="A45133"/>
                </a:solidFill>
                <a:latin typeface="Arial"/>
                <a:ea typeface="Arial"/>
                <a:cs typeface="Arial"/>
              </a:defRPr>
            </a:defPPr>
          </a:lstStyle>
          <a:p xmlns:a="http://schemas.openxmlformats.org/drawingml/2006/main">
            <a:pPr>
              <a:defRPr sz="5100" b="1">
                <a:solidFill>
                  <a:srgbClr val="A45133"/>
                </a:solidFill>
                <a:latin typeface="Arial"/>
                <a:ea typeface="Arial"/>
                <a:cs typeface="Arial"/>
              </a:defRPr>
            </a:pPr>
            <a:r>
              <a:rPr sz="5100" b="1">
                <a:solidFill>
                  <a:srgbClr val="A45133"/>
                </a:solidFill>
                <a:latin typeface="Arial"/>
                <a:ea typeface="Arial"/>
                <a:cs typeface="Arial"/>
              </a:rPr>
              <a:t>30%</a:t>
            </a:r>
          </a:p>
        </p:txBody>
      </p:sp>
      <p:sp>
        <p:nvSpPr>
          <p:cNvPr id="8" name="">
            <a:extLst xmlns:a="http://schemas.openxmlformats.org/drawingml/2006/main">
              <a:ext uri="{FF2B5EF4-FFF2-40B4-BE49-F238E27FC236}">
                <a16:creationId xmlns:a16="http://schemas.microsoft.com/office/drawing/2014/main" id="{F4B62D7F-6F8B-4373-ABCC-DC422AD3CC7E}"/>
              </a:ext>
            </a:extLst>
          </p:cNvPr>
          <p:cNvSpPr>
            <a:spLocks xmlns:a="http://schemas.openxmlformats.org/drawingml/2006/main" noGrp="1"/>
          </p:cNvSpPr>
          <p:nvPr/>
        </p:nvSpPr>
        <p:spPr>
          <a:xfrm xmlns:a="http://schemas.openxmlformats.org/drawingml/2006/main">
            <a:off x="619125" y="4981575"/>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0">
                <a:solidFill>
                  <a:srgbClr val="A45133"/>
                </a:solidFill>
                <a:latin typeface="Arial"/>
                <a:ea typeface="Arial"/>
                <a:cs typeface="Arial"/>
              </a:defRPr>
            </a:defPPr>
          </a:lstStyle>
          <a:p xmlns:a="http://schemas.openxmlformats.org/drawingml/2006/main">
            <a:pPr>
              <a:defRPr sz="1950" b="0">
                <a:solidFill>
                  <a:srgbClr val="A45133"/>
                </a:solidFill>
                <a:latin typeface="Arial"/>
                <a:ea typeface="Arial"/>
                <a:cs typeface="Arial"/>
              </a:defRPr>
            </a:pPr>
            <a:r>
              <a:rPr sz="1950" b="0">
                <a:solidFill>
                  <a:srgbClr val="A45133"/>
                </a:solidFill>
                <a:latin typeface="Arial"/>
                <a:ea typeface="Arial"/>
                <a:cs typeface="Arial"/>
              </a:rPr>
              <a:t>Contradicted</a:t>
            </a:r>
          </a:p>
        </p:txBody>
      </p:sp>
      <p:sp>
        <p:nvSpPr>
          <p:cNvPr id="9" name="">
            <a:extLst xmlns:a="http://schemas.openxmlformats.org/drawingml/2006/main">
              <a:ext uri="{FF2B5EF4-FFF2-40B4-BE49-F238E27FC236}">
                <a16:creationId xmlns:a16="http://schemas.microsoft.com/office/drawing/2014/main" id="{60CE99A5-BCAB-4800-949F-7AF70511CDF0}"/>
              </a:ext>
            </a:extLst>
          </p:cNvPr>
          <p:cNvSpPr>
            <a:spLocks xmlns:a="http://schemas.openxmlformats.org/drawingml/2006/main" noGrp="1"/>
          </p:cNvSpPr>
          <p:nvPr/>
        </p:nvSpPr>
        <p:spPr>
          <a:xfrm xmlns:a="http://schemas.openxmlformats.org/drawingml/2006/main">
            <a:off x="4048125" y="3476625"/>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1">
                <a:solidFill>
                  <a:srgbClr val="64795B"/>
                </a:solidFill>
                <a:latin typeface="Arial"/>
                <a:ea typeface="Arial"/>
                <a:cs typeface="Arial"/>
              </a:defRPr>
            </a:defPPr>
          </a:lstStyle>
          <a:p xmlns:a="http://schemas.openxmlformats.org/drawingml/2006/main">
            <a:pPr>
              <a:defRPr sz="1500" b="1">
                <a:solidFill>
                  <a:srgbClr val="64795B"/>
                </a:solidFill>
                <a:latin typeface="Arial"/>
                <a:ea typeface="Arial"/>
                <a:cs typeface="Arial"/>
              </a:defRPr>
            </a:pPr>
            <a:r>
              <a:rPr sz="1500" b="1">
                <a:solidFill>
                  <a:srgbClr val="64795B"/>
                </a:solidFill>
                <a:latin typeface="Arial"/>
                <a:ea typeface="Arial"/>
                <a:cs typeface="Arial"/>
              </a:rPr>
              <a:t>AFTER RE-AUDIT</a:t>
            </a:r>
          </a:p>
        </p:txBody>
      </p:sp>
      <p:sp>
        <p:nvSpPr>
          <p:cNvPr id="10" name="">
            <a:extLst xmlns:a="http://schemas.openxmlformats.org/drawingml/2006/main">
              <a:ext uri="{FF2B5EF4-FFF2-40B4-BE49-F238E27FC236}">
                <a16:creationId xmlns:a16="http://schemas.microsoft.com/office/drawing/2014/main" id="{467FDB35-6664-48B3-AC83-879511188DC6}"/>
              </a:ext>
            </a:extLst>
          </p:cNvPr>
          <p:cNvSpPr>
            <a:spLocks xmlns:a="http://schemas.openxmlformats.org/drawingml/2006/main" noGrp="1"/>
          </p:cNvSpPr>
          <p:nvPr/>
        </p:nvSpPr>
        <p:spPr>
          <a:xfrm xmlns:a="http://schemas.openxmlformats.org/drawingml/2006/main">
            <a:off x="4048125" y="4000500"/>
            <a:ext cx="285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5100" b="1">
                <a:solidFill>
                  <a:srgbClr val="35634B"/>
                </a:solidFill>
                <a:latin typeface="Arial"/>
                <a:ea typeface="Arial"/>
                <a:cs typeface="Arial"/>
              </a:defRPr>
            </a:defPPr>
          </a:lstStyle>
          <a:p xmlns:a="http://schemas.openxmlformats.org/drawingml/2006/main">
            <a:pPr>
              <a:defRPr sz="5100" b="1">
                <a:solidFill>
                  <a:srgbClr val="35634B"/>
                </a:solidFill>
                <a:latin typeface="Arial"/>
                <a:ea typeface="Arial"/>
                <a:cs typeface="Arial"/>
              </a:defRPr>
            </a:pPr>
            <a:r>
              <a:rPr sz="5100" b="1">
                <a:solidFill>
                  <a:srgbClr val="35634B"/>
                </a:solidFill>
                <a:latin typeface="Arial"/>
                <a:ea typeface="Arial"/>
                <a:cs typeface="Arial"/>
              </a:rPr>
              <a:t>20%</a:t>
            </a:r>
          </a:p>
        </p:txBody>
      </p:sp>
      <p:sp>
        <p:nvSpPr>
          <p:cNvPr id="11" name="">
            <a:extLst xmlns:a="http://schemas.openxmlformats.org/drawingml/2006/main">
              <a:ext uri="{FF2B5EF4-FFF2-40B4-BE49-F238E27FC236}">
                <a16:creationId xmlns:a16="http://schemas.microsoft.com/office/drawing/2014/main" id="{931FC1D7-196C-464E-8A45-0611FD9370D3}"/>
              </a:ext>
            </a:extLst>
          </p:cNvPr>
          <p:cNvSpPr>
            <a:spLocks xmlns:a="http://schemas.openxmlformats.org/drawingml/2006/main" noGrp="1"/>
          </p:cNvSpPr>
          <p:nvPr/>
        </p:nvSpPr>
        <p:spPr>
          <a:xfrm xmlns:a="http://schemas.openxmlformats.org/drawingml/2006/main">
            <a:off x="4048125" y="4981575"/>
            <a:ext cx="285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0">
                <a:solidFill>
                  <a:srgbClr val="35634B"/>
                </a:solidFill>
                <a:latin typeface="Arial"/>
                <a:ea typeface="Arial"/>
                <a:cs typeface="Arial"/>
              </a:defRPr>
            </a:defPPr>
          </a:lstStyle>
          <a:p xmlns:a="http://schemas.openxmlformats.org/drawingml/2006/main">
            <a:pPr>
              <a:defRPr sz="1950" b="0">
                <a:solidFill>
                  <a:srgbClr val="35634B"/>
                </a:solidFill>
                <a:latin typeface="Arial"/>
                <a:ea typeface="Arial"/>
                <a:cs typeface="Arial"/>
              </a:defRPr>
            </a:pPr>
            <a:r>
              <a:rPr sz="1950" b="0">
                <a:solidFill>
                  <a:srgbClr val="35634B"/>
                </a:solidFill>
                <a:latin typeface="Arial"/>
                <a:ea typeface="Arial"/>
                <a:cs typeface="Arial"/>
              </a:rPr>
              <a:t>Supported</a:t>
            </a:r>
          </a:p>
        </p:txBody>
      </p:sp>
      <p:sp>
        <p:nvSpPr>
          <p:cNvPr id="12" name="">
            <a:extLst xmlns:a="http://schemas.openxmlformats.org/drawingml/2006/main">
              <a:ext uri="{FF2B5EF4-FFF2-40B4-BE49-F238E27FC236}">
                <a16:creationId xmlns:a16="http://schemas.microsoft.com/office/drawing/2014/main" id="{24D5C8A9-14C0-4D65-83F4-6444D6AA4472}"/>
              </a:ext>
            </a:extLst>
          </p:cNvPr>
          <p:cNvSpPr>
            <a:spLocks xmlns:a="http://schemas.openxmlformats.org/drawingml/2006/main" noGrp="1"/>
          </p:cNvSpPr>
          <p:nvPr/>
        </p:nvSpPr>
        <p:spPr>
          <a:xfrm xmlns:a="http://schemas.openxmlformats.org/drawingml/2006/main">
            <a:off x="619125" y="5734050"/>
            <a:ext cx="657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64795B"/>
                </a:solidFill>
                <a:latin typeface="Arial"/>
                <a:ea typeface="Arial"/>
                <a:cs typeface="Arial"/>
              </a:defRPr>
            </a:defPPr>
          </a:lstStyle>
          <a:p xmlns:a="http://schemas.openxmlformats.org/drawingml/2006/main">
            <a:pPr>
              <a:defRPr sz="1725" b="0">
                <a:solidFill>
                  <a:srgbClr val="64795B"/>
                </a:solidFill>
                <a:latin typeface="Arial"/>
                <a:ea typeface="Arial"/>
                <a:cs typeface="Arial"/>
              </a:defRPr>
            </a:pPr>
            <a:r>
              <a:rPr sz="1725" b="0">
                <a:solidFill>
                  <a:srgbClr val="64795B"/>
                </a:solidFill>
                <a:latin typeface="Arial"/>
                <a:ea typeface="Arial"/>
                <a:cs typeface="Arial"/>
              </a:rPr>
              <a:t>Northstar example with the same source text</a:t>
            </a:r>
          </a:p>
        </p:txBody>
      </p:sp>
      <p:sp>
        <p:nvSpPr>
          <p:cNvPr id="13" name="">
            <a:extLst xmlns:a="http://schemas.openxmlformats.org/drawingml/2006/main">
              <a:ext uri="{FF2B5EF4-FFF2-40B4-BE49-F238E27FC236}">
                <a16:creationId xmlns:a16="http://schemas.microsoft.com/office/drawing/2014/main" id="{C09FB672-4E4F-482E-8B99-13663C7F9C13}"/>
              </a:ext>
            </a:extLst>
          </p:cNvPr>
          <p:cNvSpPr>
            <a:spLocks xmlns:a="http://schemas.openxmlformats.org/drawingml/2006/main" noGrp="1"/>
          </p:cNvSpPr>
          <p:nvPr/>
        </p:nvSpPr>
        <p:spPr>
          <a:xfrm xmlns:a="http://schemas.openxmlformats.org/drawingml/2006/main">
            <a:off x="7686675" y="3409950"/>
            <a:ext cx="3810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35634B"/>
                </a:solidFill>
                <a:latin typeface="Arial"/>
                <a:ea typeface="Arial"/>
                <a:cs typeface="Arial"/>
              </a:defRPr>
            </a:defPPr>
          </a:lstStyle>
          <a:p xmlns:a="http://schemas.openxmlformats.org/drawingml/2006/main">
            <a:pPr>
              <a:defRPr sz="2025" b="1">
                <a:solidFill>
                  <a:srgbClr val="35634B"/>
                </a:solidFill>
                <a:latin typeface="Arial"/>
                <a:ea typeface="Arial"/>
                <a:cs typeface="Arial"/>
              </a:defRPr>
            </a:pPr>
            <a:r>
              <a:rPr sz="2025" b="1">
                <a:solidFill>
                  <a:srgbClr val="35634B"/>
                </a:solidFill>
                <a:latin typeface="Arial"/>
                <a:ea typeface="Arial"/>
                <a:cs typeface="Arial"/>
              </a:rPr>
              <a:t>Suggested edits and re-auditing</a:t>
            </a:r>
          </a:p>
        </p:txBody>
      </p:sp>
      <p:sp>
        <p:nvSpPr>
          <p:cNvPr id="14" name="">
            <a:extLst xmlns:a="http://schemas.openxmlformats.org/drawingml/2006/main">
              <a:ext uri="{FF2B5EF4-FFF2-40B4-BE49-F238E27FC236}">
                <a16:creationId xmlns:a16="http://schemas.microsoft.com/office/drawing/2014/main" id="{1FA19F84-D0D7-4640-823E-FCE79F4E6332}"/>
              </a:ext>
            </a:extLst>
          </p:cNvPr>
          <p:cNvSpPr>
            <a:spLocks xmlns:a="http://schemas.openxmlformats.org/drawingml/2006/main" noGrp="1"/>
          </p:cNvSpPr>
          <p:nvPr/>
        </p:nvSpPr>
        <p:spPr>
          <a:xfrm xmlns:a="http://schemas.openxmlformats.org/drawingml/2006/main">
            <a:off x="7686675" y="4400550"/>
            <a:ext cx="381000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243E2F"/>
                </a:solidFill>
                <a:latin typeface="Arial"/>
                <a:ea typeface="Arial"/>
                <a:cs typeface="Arial"/>
              </a:defRPr>
            </a:defPPr>
          </a:lstStyle>
          <a:p xmlns:a="http://schemas.openxmlformats.org/drawingml/2006/main">
            <a:pPr>
              <a:defRPr sz="1875" b="0">
                <a:solidFill>
                  <a:srgbClr val="243E2F"/>
                </a:solidFill>
                <a:latin typeface="Arial"/>
                <a:ea typeface="Arial"/>
                <a:cs typeface="Arial"/>
              </a:defRPr>
            </a:pPr>
            <a:r>
              <a:rPr sz="1875" b="0">
                <a:solidFill>
                  <a:srgbClr val="243E2F"/>
                </a:solidFill>
                <a:latin typeface="Arial"/>
                <a:ea typeface="Arial"/>
                <a:cs typeface="Arial"/>
              </a:rPr>
              <a:t>Revision comparison</a:t>
            </a:r>
          </a:p>
          <a:p xmlns:a="http://schemas.openxmlformats.org/drawingml/2006/main">
            <a:pPr>
              <a:defRPr sz="1875" b="0">
                <a:solidFill>
                  <a:srgbClr val="243E2F"/>
                </a:solidFill>
                <a:latin typeface="Arial"/>
                <a:ea typeface="Arial"/>
                <a:cs typeface="Arial"/>
              </a:defRPr>
            </a:pPr>
            <a:r>
              <a:rPr sz="1875" b="0">
                <a:solidFill>
                  <a:srgbClr val="243E2F"/>
                </a:solidFill>
                <a:latin typeface="Arial"/>
                <a:ea typeface="Arial"/>
                <a:cs typeface="Arial"/>
              </a:rPr>
              <a:t>Searchable audit history</a:t>
            </a:r>
          </a:p>
          <a:p xmlns:a="http://schemas.openxmlformats.org/drawingml/2006/main">
            <a:pPr>
              <a:defRPr sz="1875" b="0">
                <a:solidFill>
                  <a:srgbClr val="243E2F"/>
                </a:solidFill>
                <a:latin typeface="Arial"/>
                <a:ea typeface="Arial"/>
                <a:cs typeface="Arial"/>
              </a:defRPr>
            </a:pPr>
            <a:r>
              <a:rPr sz="1875" b="0">
                <a:solidFill>
                  <a:srgbClr val="243E2F"/>
                </a:solidFill>
                <a:latin typeface="Arial"/>
                <a:ea typeface="Arial"/>
                <a:cs typeface="Arial"/>
              </a:rPr>
              <a:t>Markdown, JSON and PDF</a:t>
            </a:r>
          </a:p>
        </p:txBody>
      </p:sp>
    </p:spTree>
    <p:extLst>
      <p:ext uri="{BB962C8B-B14F-4D97-AF65-F5344CB8AC3E}">
        <p14:creationId xmlns:p14="http://schemas.microsoft.com/office/powerpoint/2010/main" val="8454359"/>
      </p:ext>
    </p:extLst>
  </p:cSld>
</p:sld>
</file>

<file path=ppt/slides/slide7.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620D127-16F1-4B59-8909-6B315A40D66B}"/>
              </a:ext>
            </a:extLst>
          </p:cNvPr>
          <p:cNvSpPr>
            <a:spLocks xmlns:a="http://schemas.openxmlformats.org/drawingml/2006/main" noGrp="1"/>
          </p:cNvSpPr>
          <p:nvPr/>
        </p:nvSpPr>
        <p:spPr>
          <a:xfrm xmlns:a="http://schemas.openxmlformats.org/drawingml/2006/main">
            <a:off x="609600" y="352425"/>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1">
                <a:solidFill>
                  <a:srgbClr val="64795B"/>
                </a:solidFill>
                <a:latin typeface="Arial"/>
                <a:ea typeface="Arial"/>
                <a:cs typeface="Arial"/>
              </a:defRPr>
            </a:defPPr>
          </a:lstStyle>
          <a:p xmlns:a="http://schemas.openxmlformats.org/drawingml/2006/main">
            <a:pPr>
              <a:defRPr sz="1200" b="1">
                <a:solidFill>
                  <a:srgbClr val="64795B"/>
                </a:solidFill>
                <a:latin typeface="Arial"/>
                <a:ea typeface="Arial"/>
                <a:cs typeface="Arial"/>
              </a:defRPr>
            </a:pPr>
            <a:r>
              <a:rPr sz="1200" b="1">
                <a:solidFill>
                  <a:srgbClr val="64795B"/>
                </a:solidFill>
                <a:latin typeface="Arial"/>
                <a:ea typeface="Arial"/>
                <a:cs typeface="Arial"/>
              </a:rPr>
              <a:t>SECOND OPINION BY JHAAD LABS</a:t>
            </a:r>
          </a:p>
        </p:txBody>
      </p:sp>
      <p:sp>
        <p:nvSpPr>
          <p:cNvPr id="2" name="">
            <a:extLst xmlns:a="http://schemas.openxmlformats.org/drawingml/2006/main">
              <a:ext uri="{FF2B5EF4-FFF2-40B4-BE49-F238E27FC236}">
                <a16:creationId xmlns:a16="http://schemas.microsoft.com/office/drawing/2014/main" id="{69B60054-E0D2-48FD-8643-412EF3B32E3C}"/>
              </a:ext>
            </a:extLst>
          </p:cNvPr>
          <p:cNvSpPr>
            <a:spLocks xmlns:a="http://schemas.openxmlformats.org/drawingml/2006/main" noGrp="1"/>
          </p:cNvSpPr>
          <p:nvPr/>
        </p:nvSpPr>
        <p:spPr>
          <a:xfrm xmlns:a="http://schemas.openxmlformats.org/drawingml/2006/main">
            <a:off x="609600" y="9239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600" b="1">
                <a:solidFill>
                  <a:srgbClr val="243E2F"/>
                </a:solidFill>
                <a:latin typeface="Arial"/>
                <a:ea typeface="Arial"/>
                <a:cs typeface="Arial"/>
              </a:defRPr>
            </a:defPPr>
          </a:lstStyle>
          <a:p xmlns:a="http://schemas.openxmlformats.org/drawingml/2006/main">
            <a:pPr>
              <a:defRPr sz="3600" b="1">
                <a:solidFill>
                  <a:srgbClr val="243E2F"/>
                </a:solidFill>
                <a:latin typeface="Arial"/>
                <a:ea typeface="Arial"/>
                <a:cs typeface="Arial"/>
              </a:defRPr>
            </a:pPr>
            <a:r>
              <a:rPr sz="3600" b="1">
                <a:solidFill>
                  <a:srgbClr val="243E2F"/>
                </a:solidFill>
                <a:latin typeface="Arial"/>
                <a:ea typeface="Arial"/>
                <a:cs typeface="Arial"/>
              </a:rPr>
              <a:t>Local inference, with visible limits</a:t>
            </a:r>
          </a:p>
        </p:txBody>
      </p:sp>
      <p:sp>
        <p:nvSpPr>
          <p:cNvPr id="3" name="">
            <a:extLst xmlns:a="http://schemas.openxmlformats.org/drawingml/2006/main">
              <a:ext uri="{FF2B5EF4-FFF2-40B4-BE49-F238E27FC236}">
                <a16:creationId xmlns:a16="http://schemas.microsoft.com/office/drawing/2014/main" id="{BDD616EF-DD73-46AD-96B8-CEA9C33E4042}"/>
              </a:ext>
            </a:extLst>
          </p:cNvPr>
          <p:cNvSpPr>
            <a:spLocks xmlns:a="http://schemas.openxmlformats.org/drawingml/2006/main" noGrp="1"/>
          </p:cNvSpPr>
          <p:nvPr/>
        </p:nvSpPr>
        <p:spPr>
          <a:xfrm xmlns:a="http://schemas.openxmlformats.org/drawingml/2006/main">
            <a:off x="11049000" y="631507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200" b="0">
                <a:solidFill>
                  <a:srgbClr val="64795B"/>
                </a:solidFill>
                <a:latin typeface="Arial"/>
                <a:ea typeface="Arial"/>
                <a:cs typeface="Arial"/>
              </a:defRPr>
            </a:defPPr>
          </a:lstStyle>
          <a:p xmlns:a="http://schemas.openxmlformats.org/drawingml/2006/main">
            <a:pPr algn="r">
              <a:defRPr sz="1200" b="0">
                <a:solidFill>
                  <a:srgbClr val="64795B"/>
                </a:solidFill>
                <a:latin typeface="Arial"/>
                <a:ea typeface="Arial"/>
                <a:cs typeface="Arial"/>
              </a:defRPr>
            </a:pPr>
            <a:r>
              <a:rPr sz="1200" b="0">
                <a:solidFill>
                  <a:srgbClr val="64795B"/>
                </a:solidFill>
                <a:latin typeface="Arial"/>
                <a:ea typeface="Arial"/>
                <a:cs typeface="Arial"/>
              </a:rPr>
              <a:t>07</a:t>
            </a:r>
          </a:p>
        </p:txBody>
      </p:sp>
      <p:sp>
        <p:nvSpPr>
          <p:cNvPr id="4" name="">
            <a:extLst xmlns:a="http://schemas.openxmlformats.org/drawingml/2006/main">
              <a:ext uri="{FF2B5EF4-FFF2-40B4-BE49-F238E27FC236}">
                <a16:creationId xmlns:a16="http://schemas.microsoft.com/office/drawing/2014/main" id="{E656530C-2E85-4361-88A6-697267C1596F}"/>
              </a:ext>
            </a:extLst>
          </p:cNvPr>
          <p:cNvSpPr>
            <a:spLocks xmlns:a="http://schemas.openxmlformats.org/drawingml/2006/main" noGrp="1"/>
          </p:cNvSpPr>
          <p:nvPr/>
        </p:nvSpPr>
        <p:spPr>
          <a:xfrm xmlns:a="http://schemas.openxmlformats.org/drawingml/2006/main">
            <a:off x="619125" y="207645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35634B"/>
                </a:solidFill>
                <a:latin typeface="Arial"/>
                <a:ea typeface="Arial"/>
                <a:cs typeface="Arial"/>
              </a:defRPr>
            </a:defPPr>
          </a:lstStyle>
          <a:p xmlns:a="http://schemas.openxmlformats.org/drawingml/2006/main">
            <a:pPr>
              <a:defRPr sz="3300" b="1">
                <a:solidFill>
                  <a:srgbClr val="35634B"/>
                </a:solidFill>
                <a:latin typeface="Arial"/>
                <a:ea typeface="Arial"/>
                <a:cs typeface="Arial"/>
              </a:defRPr>
            </a:pPr>
            <a:r>
              <a:rPr sz="3300" b="1">
                <a:solidFill>
                  <a:srgbClr val="35634B"/>
                </a:solidFill>
                <a:latin typeface="Arial"/>
                <a:ea typeface="Arial"/>
                <a:cs typeface="Arial"/>
              </a:rPr>
              <a:t>No paid AI API key</a:t>
            </a:r>
          </a:p>
        </p:txBody>
      </p:sp>
      <p:sp>
        <p:nvSpPr>
          <p:cNvPr id="5" name="">
            <a:extLst xmlns:a="http://schemas.openxmlformats.org/drawingml/2006/main">
              <a:ext uri="{FF2B5EF4-FFF2-40B4-BE49-F238E27FC236}">
                <a16:creationId xmlns:a16="http://schemas.microsoft.com/office/drawing/2014/main" id="{EA1C8B88-A1FC-47DF-887C-3EAB7668D24E}"/>
              </a:ext>
            </a:extLst>
          </p:cNvPr>
          <p:cNvSpPr>
            <a:spLocks xmlns:a="http://schemas.openxmlformats.org/drawingml/2006/main" noGrp="1"/>
          </p:cNvSpPr>
          <p:nvPr/>
        </p:nvSpPr>
        <p:spPr>
          <a:xfrm xmlns:a="http://schemas.openxmlformats.org/drawingml/2006/main">
            <a:off x="619125" y="2981325"/>
            <a:ext cx="1066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E2F"/>
                </a:solidFill>
                <a:latin typeface="Arial"/>
                <a:ea typeface="Arial"/>
                <a:cs typeface="Arial"/>
              </a:defRPr>
            </a:defPPr>
          </a:lstStyle>
          <a:p xmlns:a="http://schemas.openxmlformats.org/drawingml/2006/main">
            <a:pPr>
              <a:defRPr sz="2175" b="0">
                <a:solidFill>
                  <a:srgbClr val="243E2F"/>
                </a:solidFill>
                <a:latin typeface="Arial"/>
                <a:ea typeface="Arial"/>
                <a:cs typeface="Arial"/>
              </a:defRPr>
            </a:pPr>
            <a:r>
              <a:rPr sz="2175" b="0">
                <a:solidFill>
                  <a:srgbClr val="243E2F"/>
                </a:solidFill>
                <a:latin typeface="Arial"/>
                <a:ea typeface="Arial"/>
                <a:cs typeface="Arial"/>
              </a:rPr>
              <a:t>Your document text stays on the workspace server.</a:t>
            </a:r>
          </a:p>
          <a:p xmlns:a="http://schemas.openxmlformats.org/drawingml/2006/main">
            <a:pPr>
              <a:defRPr sz="2175" b="0">
                <a:solidFill>
                  <a:srgbClr val="243E2F"/>
                </a:solidFill>
                <a:latin typeface="Arial"/>
                <a:ea typeface="Arial"/>
                <a:cs typeface="Arial"/>
              </a:defRPr>
            </a:pPr>
            <a:r>
              <a:rPr sz="2175" b="0">
                <a:solidFill>
                  <a:srgbClr val="243E2F"/>
                </a:solidFill>
                <a:latin typeface="Arial"/>
                <a:ea typeface="Arial"/>
                <a:cs typeface="Arial"/>
              </a:rPr>
              <a:t>The model needs internet for its first download.</a:t>
            </a:r>
          </a:p>
        </p:txBody>
      </p:sp>
      <p:sp>
        <p:nvSpPr>
          <p:cNvPr id="6" name="">
            <a:extLst xmlns:a="http://schemas.openxmlformats.org/drawingml/2006/main">
              <a:ext uri="{FF2B5EF4-FFF2-40B4-BE49-F238E27FC236}">
                <a16:creationId xmlns:a16="http://schemas.microsoft.com/office/drawing/2014/main" id="{43C6FC3F-B0CA-47DB-9A86-875A0EE28325}"/>
              </a:ext>
            </a:extLst>
          </p:cNvPr>
          <p:cNvSpPr>
            <a:spLocks xmlns:a="http://schemas.openxmlformats.org/drawingml/2006/main" noGrp="1"/>
          </p:cNvSpPr>
          <p:nvPr/>
        </p:nvSpPr>
        <p:spPr>
          <a:xfrm xmlns:a="http://schemas.openxmlformats.org/drawingml/2006/main">
            <a:off x="619125" y="4333875"/>
            <a:ext cx="285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5100" b="1">
                <a:solidFill>
                  <a:srgbClr val="35634B"/>
                </a:solidFill>
                <a:latin typeface="Arial"/>
                <a:ea typeface="Arial"/>
                <a:cs typeface="Arial"/>
              </a:defRPr>
            </a:defPPr>
          </a:lstStyle>
          <a:p xmlns:a="http://schemas.openxmlformats.org/drawingml/2006/main">
            <a:pPr>
              <a:defRPr sz="5100" b="1">
                <a:solidFill>
                  <a:srgbClr val="35634B"/>
                </a:solidFill>
                <a:latin typeface="Arial"/>
                <a:ea typeface="Arial"/>
                <a:cs typeface="Arial"/>
              </a:defRPr>
            </a:pPr>
            <a:r>
              <a:rPr sz="5100" b="1">
                <a:solidFill>
                  <a:srgbClr val="35634B"/>
                </a:solidFill>
                <a:latin typeface="Arial"/>
                <a:ea typeface="Arial"/>
                <a:cs typeface="Arial"/>
              </a:rPr>
              <a:t>35</a:t>
            </a:r>
          </a:p>
        </p:txBody>
      </p:sp>
      <p:sp>
        <p:nvSpPr>
          <p:cNvPr id="7" name="">
            <a:extLst xmlns:a="http://schemas.openxmlformats.org/drawingml/2006/main">
              <a:ext uri="{FF2B5EF4-FFF2-40B4-BE49-F238E27FC236}">
                <a16:creationId xmlns:a16="http://schemas.microsoft.com/office/drawing/2014/main" id="{8D8D139A-A4AD-4856-A7B3-1CD564496980}"/>
              </a:ext>
            </a:extLst>
          </p:cNvPr>
          <p:cNvSpPr>
            <a:spLocks xmlns:a="http://schemas.openxmlformats.org/drawingml/2006/main" noGrp="1"/>
          </p:cNvSpPr>
          <p:nvPr/>
        </p:nvSpPr>
        <p:spPr>
          <a:xfrm xmlns:a="http://schemas.openxmlformats.org/drawingml/2006/main">
            <a:off x="628650" y="5257800"/>
            <a:ext cx="3429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64795B"/>
                </a:solidFill>
                <a:latin typeface="Arial"/>
                <a:ea typeface="Arial"/>
                <a:cs typeface="Arial"/>
              </a:defRPr>
            </a:defPPr>
          </a:lstStyle>
          <a:p xmlns:a="http://schemas.openxmlformats.org/drawingml/2006/main">
            <a:pPr>
              <a:defRPr sz="1800" b="0">
                <a:solidFill>
                  <a:srgbClr val="64795B"/>
                </a:solidFill>
                <a:latin typeface="Arial"/>
                <a:ea typeface="Arial"/>
                <a:cs typeface="Arial"/>
              </a:defRPr>
            </a:pPr>
            <a:r>
              <a:rPr sz="1800" b="0">
                <a:solidFill>
                  <a:srgbClr val="64795B"/>
                </a:solidFill>
                <a:latin typeface="Arial"/>
                <a:ea typeface="Arial"/>
                <a:cs typeface="Arial"/>
              </a:rPr>
              <a:t>unit and API tests passed</a:t>
            </a:r>
          </a:p>
        </p:txBody>
      </p:sp>
      <p:sp>
        <p:nvSpPr>
          <p:cNvPr id="8" name="">
            <a:extLst xmlns:a="http://schemas.openxmlformats.org/drawingml/2006/main">
              <a:ext uri="{FF2B5EF4-FFF2-40B4-BE49-F238E27FC236}">
                <a16:creationId xmlns:a16="http://schemas.microsoft.com/office/drawing/2014/main" id="{586ED3BE-D7A9-4B93-991E-5E0C2684C43E}"/>
              </a:ext>
            </a:extLst>
          </p:cNvPr>
          <p:cNvSpPr>
            <a:spLocks xmlns:a="http://schemas.openxmlformats.org/drawingml/2006/main" noGrp="1"/>
          </p:cNvSpPr>
          <p:nvPr/>
        </p:nvSpPr>
        <p:spPr>
          <a:xfrm xmlns:a="http://schemas.openxmlformats.org/drawingml/2006/main">
            <a:off x="4448175" y="4333875"/>
            <a:ext cx="285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5100" b="1">
                <a:solidFill>
                  <a:srgbClr val="35634B"/>
                </a:solidFill>
                <a:latin typeface="Arial"/>
                <a:ea typeface="Arial"/>
                <a:cs typeface="Arial"/>
              </a:defRPr>
            </a:defPPr>
          </a:lstStyle>
          <a:p xmlns:a="http://schemas.openxmlformats.org/drawingml/2006/main">
            <a:pPr>
              <a:defRPr sz="5100" b="1">
                <a:solidFill>
                  <a:srgbClr val="35634B"/>
                </a:solidFill>
                <a:latin typeface="Arial"/>
                <a:ea typeface="Arial"/>
                <a:cs typeface="Arial"/>
              </a:defRPr>
            </a:pPr>
            <a:r>
              <a:rPr sz="5100" b="1">
                <a:solidFill>
                  <a:srgbClr val="35634B"/>
                </a:solidFill>
                <a:latin typeface="Arial"/>
                <a:ea typeface="Arial"/>
                <a:cs typeface="Arial"/>
              </a:rPr>
              <a:t>3</a:t>
            </a:r>
          </a:p>
        </p:txBody>
      </p:sp>
      <p:sp>
        <p:nvSpPr>
          <p:cNvPr id="9" name="">
            <a:extLst xmlns:a="http://schemas.openxmlformats.org/drawingml/2006/main">
              <a:ext uri="{FF2B5EF4-FFF2-40B4-BE49-F238E27FC236}">
                <a16:creationId xmlns:a16="http://schemas.microsoft.com/office/drawing/2014/main" id="{68A1B837-ED01-4F5B-9848-879BC378FB09}"/>
              </a:ext>
            </a:extLst>
          </p:cNvPr>
          <p:cNvSpPr>
            <a:spLocks xmlns:a="http://schemas.openxmlformats.org/drawingml/2006/main" noGrp="1"/>
          </p:cNvSpPr>
          <p:nvPr/>
        </p:nvSpPr>
        <p:spPr>
          <a:xfrm xmlns:a="http://schemas.openxmlformats.org/drawingml/2006/main">
            <a:off x="4448175" y="5257800"/>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64795B"/>
                </a:solidFill>
                <a:latin typeface="Arial"/>
                <a:ea typeface="Arial"/>
                <a:cs typeface="Arial"/>
              </a:defRPr>
            </a:defPPr>
          </a:lstStyle>
          <a:p xmlns:a="http://schemas.openxmlformats.org/drawingml/2006/main">
            <a:pPr>
              <a:defRPr sz="1800" b="0">
                <a:solidFill>
                  <a:srgbClr val="64795B"/>
                </a:solidFill>
                <a:latin typeface="Arial"/>
                <a:ea typeface="Arial"/>
                <a:cs typeface="Arial"/>
              </a:defRPr>
            </a:pPr>
            <a:r>
              <a:rPr sz="1800" b="0">
                <a:solidFill>
                  <a:srgbClr val="64795B"/>
                </a:solidFill>
                <a:latin typeface="Arial"/>
                <a:ea typeface="Arial"/>
                <a:cs typeface="Arial"/>
              </a:rPr>
              <a:t>browser workflows passed</a:t>
            </a:r>
          </a:p>
        </p:txBody>
      </p:sp>
      <p:sp>
        <p:nvSpPr>
          <p:cNvPr id="10" name="">
            <a:extLst xmlns:a="http://schemas.openxmlformats.org/drawingml/2006/main">
              <a:ext uri="{FF2B5EF4-FFF2-40B4-BE49-F238E27FC236}">
                <a16:creationId xmlns:a16="http://schemas.microsoft.com/office/drawing/2014/main" id="{FE9E84B1-FF9C-4F91-A750-D37A641CDCD9}"/>
              </a:ext>
            </a:extLst>
          </p:cNvPr>
          <p:cNvSpPr>
            <a:spLocks xmlns:a="http://schemas.openxmlformats.org/drawingml/2006/main" noGrp="1"/>
          </p:cNvSpPr>
          <p:nvPr/>
        </p:nvSpPr>
        <p:spPr>
          <a:xfrm xmlns:a="http://schemas.openxmlformats.org/drawingml/2006/main">
            <a:off x="8181975" y="4333875"/>
            <a:ext cx="333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5100" b="1">
                <a:solidFill>
                  <a:srgbClr val="35634B"/>
                </a:solidFill>
                <a:latin typeface="Arial"/>
                <a:ea typeface="Arial"/>
                <a:cs typeface="Arial"/>
              </a:defRPr>
            </a:defPPr>
          </a:lstStyle>
          <a:p xmlns:a="http://schemas.openxmlformats.org/drawingml/2006/main">
            <a:pPr>
              <a:defRPr sz="5100" b="1">
                <a:solidFill>
                  <a:srgbClr val="35634B"/>
                </a:solidFill>
                <a:latin typeface="Arial"/>
                <a:ea typeface="Arial"/>
                <a:cs typeface="Arial"/>
              </a:defRPr>
            </a:pPr>
            <a:r>
              <a:rPr sz="5100" b="1">
                <a:solidFill>
                  <a:srgbClr val="35634B"/>
                </a:solidFill>
                <a:latin typeface="Arial"/>
                <a:ea typeface="Arial"/>
                <a:cs typeface="Arial"/>
              </a:rPr>
              <a:t>19 / 20</a:t>
            </a:r>
          </a:p>
        </p:txBody>
      </p:sp>
      <p:sp>
        <p:nvSpPr>
          <p:cNvPr id="11" name="">
            <a:extLst xmlns:a="http://schemas.openxmlformats.org/drawingml/2006/main">
              <a:ext uri="{FF2B5EF4-FFF2-40B4-BE49-F238E27FC236}">
                <a16:creationId xmlns:a16="http://schemas.microsoft.com/office/drawing/2014/main" id="{A2D57A01-E2BA-4CCB-B1F3-6A3EA340E288}"/>
              </a:ext>
            </a:extLst>
          </p:cNvPr>
          <p:cNvSpPr>
            <a:spLocks xmlns:a="http://schemas.openxmlformats.org/drawingml/2006/main" noGrp="1"/>
          </p:cNvSpPr>
          <p:nvPr/>
        </p:nvSpPr>
        <p:spPr>
          <a:xfrm xmlns:a="http://schemas.openxmlformats.org/drawingml/2006/main">
            <a:off x="8201025" y="5257800"/>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64795B"/>
                </a:solidFill>
                <a:latin typeface="Arial"/>
                <a:ea typeface="Arial"/>
                <a:cs typeface="Arial"/>
              </a:defRPr>
            </a:defPPr>
          </a:lstStyle>
          <a:p xmlns:a="http://schemas.openxmlformats.org/drawingml/2006/main">
            <a:pPr>
              <a:defRPr sz="1800" b="0">
                <a:solidFill>
                  <a:srgbClr val="64795B"/>
                </a:solidFill>
                <a:latin typeface="Arial"/>
                <a:ea typeface="Arial"/>
                <a:cs typeface="Arial"/>
              </a:defRPr>
            </a:pPr>
            <a:r>
              <a:rPr sz="1800" b="0">
                <a:solidFill>
                  <a:srgbClr val="64795B"/>
                </a:solidFill>
                <a:latin typeface="Arial"/>
                <a:ea typeface="Arial"/>
                <a:cs typeface="Arial"/>
              </a:rPr>
              <a:t>authored cases matched</a:t>
            </a:r>
          </a:p>
        </p:txBody>
      </p:sp>
      <p:sp>
        <p:nvSpPr>
          <p:cNvPr id="12" name="">
            <a:extLst xmlns:a="http://schemas.openxmlformats.org/drawingml/2006/main">
              <a:ext uri="{FF2B5EF4-FFF2-40B4-BE49-F238E27FC236}">
                <a16:creationId xmlns:a16="http://schemas.microsoft.com/office/drawing/2014/main" id="{1C3DBA5E-3F2C-45B0-994C-38EED9DC98FF}"/>
              </a:ext>
            </a:extLst>
          </p:cNvPr>
          <p:cNvSpPr>
            <a:spLocks xmlns:a="http://schemas.openxmlformats.org/drawingml/2006/main" noGrp="1"/>
          </p:cNvSpPr>
          <p:nvPr/>
        </p:nvSpPr>
        <p:spPr>
          <a:xfrm xmlns:a="http://schemas.openxmlformats.org/drawingml/2006/main">
            <a:off x="628650" y="6019800"/>
            <a:ext cx="10477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64795B"/>
                </a:solidFill>
                <a:latin typeface="Arial"/>
                <a:ea typeface="Arial"/>
                <a:cs typeface="Arial"/>
              </a:defRPr>
            </a:defPPr>
          </a:lstStyle>
          <a:p xmlns:a="http://schemas.openxmlformats.org/drawingml/2006/main">
            <a:pPr>
              <a:defRPr sz="1350" b="0">
                <a:solidFill>
                  <a:srgbClr val="64795B"/>
                </a:solidFill>
                <a:latin typeface="Arial"/>
                <a:ea typeface="Arial"/>
                <a:cs typeface="Arial"/>
              </a:defRPr>
            </a:pPr>
            <a:r>
              <a:rPr sz="1350" b="0">
                <a:solidFill>
                  <a:srgbClr val="64795B"/>
                </a:solidFill>
                <a:latin typeface="Arial"/>
                <a:ea typeface="Arial"/>
                <a:cs typeface="Arial"/>
              </a:rPr>
              <a:t>Development results, not a general accuracy guarantee. English-focused prototype.</a:t>
            </a:r>
          </a:p>
        </p:txBody>
      </p:sp>
    </p:spTree>
    <p:extLst>
      <p:ext uri="{BB962C8B-B14F-4D97-AF65-F5344CB8AC3E}">
        <p14:creationId xmlns:p14="http://schemas.microsoft.com/office/powerpoint/2010/main" val="442599573"/>
      </p:ext>
    </p:extLst>
  </p:cSld>
</p:sld>
</file>

<file path=ppt/slides/slide8.xml><?xml version="1.0" encoding="utf-8"?>
<p:sld xmlns:p="http://schemas.openxmlformats.org/presentationml/2006/main">
  <p:cSld>
    <p:bg>
      <p:bgPr>
        <a:solidFill xmlns:a="http://schemas.openxmlformats.org/drawingml/2006/main">
          <a:srgbClr val="243E2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D459B93-EBA1-4D4F-80B0-352F079428DF}"/>
              </a:ext>
            </a:extLst>
          </p:cNvPr>
          <p:cNvSpPr>
            <a:spLocks xmlns:a="http://schemas.openxmlformats.org/drawingml/2006/main" noGrp="1"/>
          </p:cNvSpPr>
          <p:nvPr/>
        </p:nvSpPr>
        <p:spPr>
          <a:xfrm xmlns:a="http://schemas.openxmlformats.org/drawingml/2006/main">
            <a:off x="609600" y="352425"/>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1">
                <a:solidFill>
                  <a:srgbClr val="D8E9C3"/>
                </a:solidFill>
                <a:latin typeface="Arial"/>
                <a:ea typeface="Arial"/>
                <a:cs typeface="Arial"/>
              </a:defRPr>
            </a:defPPr>
          </a:lstStyle>
          <a:p xmlns:a="http://schemas.openxmlformats.org/drawingml/2006/main">
            <a:pPr>
              <a:defRPr sz="1200" b="1">
                <a:solidFill>
                  <a:srgbClr val="D8E9C3"/>
                </a:solidFill>
                <a:latin typeface="Arial"/>
                <a:ea typeface="Arial"/>
                <a:cs typeface="Arial"/>
              </a:defRPr>
            </a:pPr>
            <a:r>
              <a:rPr sz="1200" b="1">
                <a:solidFill>
                  <a:srgbClr val="D8E9C3"/>
                </a:solidFill>
                <a:latin typeface="Arial"/>
                <a:ea typeface="Arial"/>
                <a:cs typeface="Arial"/>
              </a:rPr>
              <a:t>SECOND OPINION BY JHAAD LABS</a:t>
            </a:r>
          </a:p>
        </p:txBody>
      </p:sp>
      <p:sp>
        <p:nvSpPr>
          <p:cNvPr id="2" name="">
            <a:extLst xmlns:a="http://schemas.openxmlformats.org/drawingml/2006/main">
              <a:ext uri="{FF2B5EF4-FFF2-40B4-BE49-F238E27FC236}">
                <a16:creationId xmlns:a16="http://schemas.microsoft.com/office/drawing/2014/main" id="{D989EEFD-EF65-43CE-9AA1-5226C994FF2C}"/>
              </a:ext>
            </a:extLst>
          </p:cNvPr>
          <p:cNvSpPr>
            <a:spLocks xmlns:a="http://schemas.openxmlformats.org/drawingml/2006/main" noGrp="1"/>
          </p:cNvSpPr>
          <p:nvPr/>
        </p:nvSpPr>
        <p:spPr>
          <a:xfrm xmlns:a="http://schemas.openxmlformats.org/drawingml/2006/main">
            <a:off x="609600" y="9239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600" b="1">
                <a:solidFill>
                  <a:srgbClr val="FFFFFF"/>
                </a:solidFill>
                <a:latin typeface="Arial"/>
                <a:ea typeface="Arial"/>
                <a:cs typeface="Arial"/>
              </a:defRPr>
            </a:defPPr>
          </a:lstStyle>
          <a:p xmlns:a="http://schemas.openxmlformats.org/drawingml/2006/main">
            <a:pPr>
              <a:defRPr sz="3600" b="1">
                <a:solidFill>
                  <a:srgbClr val="FFFFFF"/>
                </a:solidFill>
                <a:latin typeface="Arial"/>
                <a:ea typeface="Arial"/>
                <a:cs typeface="Arial"/>
              </a:defRPr>
            </a:pPr>
            <a:r>
              <a:rPr sz="3600" b="1">
                <a:solidFill>
                  <a:srgbClr val="FFFFFF"/>
                </a:solidFill>
                <a:latin typeface="Arial"/>
                <a:ea typeface="Arial"/>
                <a:cs typeface="Arial"/>
              </a:rPr>
              <a:t>A clearer review before you share</a:t>
            </a:r>
          </a:p>
        </p:txBody>
      </p:sp>
      <p:sp>
        <p:nvSpPr>
          <p:cNvPr id="3" name="">
            <a:extLst xmlns:a="http://schemas.openxmlformats.org/drawingml/2006/main">
              <a:ext uri="{FF2B5EF4-FFF2-40B4-BE49-F238E27FC236}">
                <a16:creationId xmlns:a16="http://schemas.microsoft.com/office/drawing/2014/main" id="{E8EB7CEF-3BD9-4BB7-8F7E-B9297A7B4A2F}"/>
              </a:ext>
            </a:extLst>
          </p:cNvPr>
          <p:cNvSpPr>
            <a:spLocks xmlns:a="http://schemas.openxmlformats.org/drawingml/2006/main" noGrp="1"/>
          </p:cNvSpPr>
          <p:nvPr/>
        </p:nvSpPr>
        <p:spPr>
          <a:xfrm xmlns:a="http://schemas.openxmlformats.org/drawingml/2006/main">
            <a:off x="11049000" y="631507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200" b="0">
                <a:solidFill>
                  <a:srgbClr val="D8E9C3"/>
                </a:solidFill>
                <a:latin typeface="Arial"/>
                <a:ea typeface="Arial"/>
                <a:cs typeface="Arial"/>
              </a:defRPr>
            </a:defPPr>
          </a:lstStyle>
          <a:p xmlns:a="http://schemas.openxmlformats.org/drawingml/2006/main">
            <a:pPr algn="r">
              <a:defRPr sz="1200" b="0">
                <a:solidFill>
                  <a:srgbClr val="D8E9C3"/>
                </a:solidFill>
                <a:latin typeface="Arial"/>
                <a:ea typeface="Arial"/>
                <a:cs typeface="Arial"/>
              </a:defRPr>
            </a:pPr>
            <a:r>
              <a:rPr sz="1200" b="0">
                <a:solidFill>
                  <a:srgbClr val="D8E9C3"/>
                </a:solidFill>
                <a:latin typeface="Arial"/>
                <a:ea typeface="Arial"/>
                <a:cs typeface="Arial"/>
              </a:rPr>
              <a:t>08</a:t>
            </a:r>
          </a:p>
        </p:txBody>
      </p:sp>
      <p:sp>
        <p:nvSpPr>
          <p:cNvPr id="4" name="">
            <a:extLst xmlns:a="http://schemas.openxmlformats.org/drawingml/2006/main">
              <a:ext uri="{FF2B5EF4-FFF2-40B4-BE49-F238E27FC236}">
                <a16:creationId xmlns:a16="http://schemas.microsoft.com/office/drawing/2014/main" id="{9017890B-2569-4F8A-991D-F01A7F878581}"/>
              </a:ext>
            </a:extLst>
          </p:cNvPr>
          <p:cNvSpPr>
            <a:spLocks xmlns:a="http://schemas.openxmlformats.org/drawingml/2006/main" noGrp="1"/>
          </p:cNvSpPr>
          <p:nvPr/>
        </p:nvSpPr>
        <p:spPr>
          <a:xfrm xmlns:a="http://schemas.openxmlformats.org/drawingml/2006/main">
            <a:off x="628650" y="2171700"/>
            <a:ext cx="107632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0">
                <a:solidFill>
                  <a:srgbClr val="FFFFFF"/>
                </a:solidFill>
                <a:latin typeface="Arial"/>
                <a:ea typeface="Arial"/>
                <a:cs typeface="Arial"/>
              </a:defRPr>
            </a:defPPr>
          </a:lstStyle>
          <a:p xmlns:a="http://schemas.openxmlformats.org/drawingml/2006/main">
            <a:pPr>
              <a:defRPr sz="3300" b="0">
                <a:solidFill>
                  <a:srgbClr val="FFFFFF"/>
                </a:solidFill>
                <a:latin typeface="Arial"/>
                <a:ea typeface="Arial"/>
                <a:cs typeface="Arial"/>
              </a:defRPr>
            </a:pPr>
            <a:r>
              <a:rPr sz="3300" b="0">
                <a:solidFill>
                  <a:srgbClr val="FFFFFF"/>
                </a:solidFill>
                <a:latin typeface="Arial"/>
                <a:ea typeface="Arial"/>
                <a:cs typeface="Arial"/>
              </a:rPr>
              <a:t>For research summaries, reports,</a:t>
            </a:r>
          </a:p>
          <a:p xmlns:a="http://schemas.openxmlformats.org/drawingml/2006/main">
            <a:pPr>
              <a:defRPr sz="3300" b="0">
                <a:solidFill>
                  <a:srgbClr val="FFFFFF"/>
                </a:solidFill>
                <a:latin typeface="Arial"/>
                <a:ea typeface="Arial"/>
                <a:cs typeface="Arial"/>
              </a:defRPr>
            </a:pPr>
            <a:r>
              <a:rPr sz="3300" b="0">
                <a:solidFill>
                  <a:srgbClr val="FFFFFF"/>
                </a:solidFill>
                <a:latin typeface="Arial"/>
                <a:ea typeface="Arial"/>
                <a:cs typeface="Arial"/>
              </a:rPr>
              <a:t>and recommendations</a:t>
            </a:r>
          </a:p>
        </p:txBody>
      </p:sp>
      <p:sp>
        <p:nvSpPr>
          <p:cNvPr id="5" name="">
            <a:extLst xmlns:a="http://schemas.openxmlformats.org/drawingml/2006/main">
              <a:ext uri="{FF2B5EF4-FFF2-40B4-BE49-F238E27FC236}">
                <a16:creationId xmlns:a16="http://schemas.microsoft.com/office/drawing/2014/main" id="{E07EB0E7-23D2-4C2A-91EC-A309D2232EB1}"/>
              </a:ext>
            </a:extLst>
          </p:cNvPr>
          <p:cNvSpPr>
            <a:spLocks xmlns:a="http://schemas.openxmlformats.org/drawingml/2006/main" noGrp="1"/>
          </p:cNvSpPr>
          <p:nvPr/>
        </p:nvSpPr>
        <p:spPr>
          <a:xfrm xmlns:a="http://schemas.openxmlformats.org/drawingml/2006/main">
            <a:off x="628650" y="391477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775" b="1">
                <a:solidFill>
                  <a:srgbClr val="D8E9C3"/>
                </a:solidFill>
                <a:latin typeface="Arial"/>
                <a:ea typeface="Arial"/>
                <a:cs typeface="Arial"/>
              </a:defRPr>
            </a:defPPr>
          </a:lstStyle>
          <a:p xmlns:a="http://schemas.openxmlformats.org/drawingml/2006/main">
            <a:pPr>
              <a:defRPr sz="2775" b="1">
                <a:solidFill>
                  <a:srgbClr val="D8E9C3"/>
                </a:solidFill>
                <a:latin typeface="Arial"/>
                <a:ea typeface="Arial"/>
                <a:cs typeface="Arial"/>
              </a:defRPr>
            </a:pPr>
            <a:r>
              <a:rPr sz="2775" b="1">
                <a:solidFill>
                  <a:srgbClr val="D8E9C3"/>
                </a:solidFill>
                <a:latin typeface="Arial"/>
                <a:ea typeface="Arial"/>
                <a:cs typeface="Arial"/>
              </a:rPr>
              <a:t>One AI answer. Your original sources.</a:t>
            </a:r>
          </a:p>
        </p:txBody>
      </p:sp>
      <p:sp>
        <p:nvSpPr>
          <p:cNvPr id="6" name="">
            <a:extLst xmlns:a="http://schemas.openxmlformats.org/drawingml/2006/main">
              <a:ext uri="{FF2B5EF4-FFF2-40B4-BE49-F238E27FC236}">
                <a16:creationId xmlns:a16="http://schemas.microsoft.com/office/drawing/2014/main" id="{212E2ED7-7DBD-4451-80BF-8CFE9B7C652E}"/>
              </a:ext>
            </a:extLst>
          </p:cNvPr>
          <p:cNvSpPr>
            <a:spLocks xmlns:a="http://schemas.openxmlformats.org/drawingml/2006/main" noGrp="1"/>
          </p:cNvSpPr>
          <p:nvPr/>
        </p:nvSpPr>
        <p:spPr>
          <a:xfrm xmlns:a="http://schemas.openxmlformats.org/drawingml/2006/main">
            <a:off x="628650" y="4781550"/>
            <a:ext cx="10382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625" b="0">
                <a:solidFill>
                  <a:srgbClr val="FFFFFF"/>
                </a:solidFill>
                <a:latin typeface="Arial"/>
                <a:ea typeface="Arial"/>
                <a:cs typeface="Arial"/>
              </a:defRPr>
            </a:defPPr>
          </a:lstStyle>
          <a:p xmlns:a="http://schemas.openxmlformats.org/drawingml/2006/main">
            <a:pPr>
              <a:defRPr sz="2625" b="0">
                <a:solidFill>
                  <a:srgbClr val="FFFFFF"/>
                </a:solidFill>
                <a:latin typeface="Arial"/>
                <a:ea typeface="Arial"/>
                <a:cs typeface="Arial"/>
              </a:defRPr>
            </a:pPr>
            <a:r>
              <a:rPr sz="2625" b="0">
                <a:solidFill>
                  <a:srgbClr val="FFFFFF"/>
                </a:solidFill>
                <a:latin typeface="Arial"/>
                <a:ea typeface="Arial"/>
                <a:cs typeface="Arial"/>
              </a:rPr>
              <a:t>See what holds up, what needs changing,</a:t>
            </a:r>
          </a:p>
          <a:p xmlns:a="http://schemas.openxmlformats.org/drawingml/2006/main">
            <a:pPr>
              <a:defRPr sz="2625" b="0">
                <a:solidFill>
                  <a:srgbClr val="FFFFFF"/>
                </a:solidFill>
                <a:latin typeface="Arial"/>
                <a:ea typeface="Arial"/>
                <a:cs typeface="Arial"/>
              </a:defRPr>
            </a:pPr>
            <a:r>
              <a:rPr sz="2625" b="0">
                <a:solidFill>
                  <a:srgbClr val="FFFFFF"/>
                </a:solidFill>
                <a:latin typeface="Arial"/>
                <a:ea typeface="Arial"/>
                <a:cs typeface="Arial"/>
              </a:rPr>
              <a:t>and what to check next.</a:t>
            </a:r>
          </a:p>
        </p:txBody>
      </p:sp>
    </p:spTree>
    <p:extLst>
      <p:ext uri="{BB962C8B-B14F-4D97-AF65-F5344CB8AC3E}">
        <p14:creationId xmlns:p14="http://schemas.microsoft.com/office/powerpoint/2010/main" val="206713081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2026-10-10T17:25:44.5530000Z</dcterms:created>
  <dcterms:modified xsi:type="dcterms:W3CDTF">2026-10-10T17:25:44.5540000Z</dcterms:modified>
</coreProperties>
</file>